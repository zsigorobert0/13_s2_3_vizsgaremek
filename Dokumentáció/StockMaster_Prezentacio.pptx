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72" r:id="rId8"/>
    <p:sldId id="273" r:id="rId9"/>
    <p:sldId id="267" r:id="rId10"/>
    <p:sldId id="270" r:id="rId11"/>
    <p:sldId id="268" r:id="rId12"/>
    <p:sldId id="271" r:id="rId13"/>
    <p:sldId id="274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205" autoAdjust="0"/>
  </p:normalViewPr>
  <p:slideViewPr>
    <p:cSldViewPr snapToGrid="0">
      <p:cViewPr varScale="1">
        <p:scale>
          <a:sx n="101" d="100"/>
          <a:sy n="101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7823A-862C-422A-A575-936A9871EC5A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BB5B3-9749-486C-A43B-73D16959CA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43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Üdvözlünk mindenkit! Ma a StockMaster projektet mutatjuk be. Ez egy tőzsdei szimulációs és oktató platform, amit azért hoztunk létre, hogy a kezdő kereskedők kockázatmentesen, '</a:t>
            </a:r>
            <a:r>
              <a:rPr lang="hu-HU" dirty="0" err="1"/>
              <a:t>demo</a:t>
            </a:r>
            <a:r>
              <a:rPr lang="hu-HU" dirty="0"/>
              <a:t>' környezetben sajátíthassák el a pénzügyi piacok működését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945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StockMaster projekt ötlete abból a felismerésből indult, hogy a tőzsdei kereskedés világa a kezdők számára gyakran átláthatatlan és rendkívül kockázatos. Sokan már az első lépéseknél elveszítik a tőkéjüket a tapasztalat hiánya miatt.</a:t>
            </a:r>
          </a:p>
          <a:p>
            <a:r>
              <a:rPr lang="hu-HU" dirty="0"/>
              <a:t>A mi megoldásunk egy olyan webes platform, amely '</a:t>
            </a:r>
            <a:r>
              <a:rPr lang="hu-HU" dirty="0" err="1"/>
              <a:t>demo</a:t>
            </a:r>
            <a:r>
              <a:rPr lang="hu-HU" dirty="0"/>
              <a:t>' pénzzel teszi lehetővé a tőzsde megismerését. A projekt lényege nem csak a vétel és eladás gombok nyomogatása, hanem a tudatos tanulás. A rendszerbe integráltunk egy oktatási modult is, ahol a felhasználók elméleti erőt meríthetnek a sikeres kereskedéshez.</a:t>
            </a:r>
          </a:p>
          <a:p>
            <a:r>
              <a:rPr lang="hu-HU" dirty="0"/>
              <a:t>Ahogy a specifikációban is rögzítettük, a szoftver egy teljes értékű szimulációs környezet. A felhasználó regisztráció után egy virtuális egyenleggel gazdálkodik, valós piaci eszközökkel kereskedhet, miközben a háttérben futó algoritmusaink folyamatosan elemzik a döntéseit. Így a StockMaster egyszerre szoftver, szimulátor és digitális mentor.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2389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Elsődleges célcsoportunk az </a:t>
            </a:r>
            <a:r>
              <a:rPr lang="hu-HU" b="1" dirty="0"/>
              <a:t>abszolút kezdők</a:t>
            </a:r>
            <a:r>
              <a:rPr lang="hu-HU" dirty="0"/>
              <a:t> köre. Azok az emberek, akik hallottak már a tőzsdéről, látják a hírekben az árfolyamokat, de félnek megtenni az első lépést, mert tartanak a pénzveszteségtől. A mi platformunk nekik ad egy biztonsági hálót. Végül, de nem utolsósorban a </a:t>
            </a:r>
            <a:r>
              <a:rPr lang="hu-HU" b="1" dirty="0"/>
              <a:t>tapasztaltabb, de óvatos kereskedőknek</a:t>
            </a:r>
            <a:r>
              <a:rPr lang="hu-HU" dirty="0"/>
              <a:t> is hasznos a program. A szoftver részletes statisztikai visszajelzései – mint a nyereségi ráta (</a:t>
            </a:r>
            <a:r>
              <a:rPr lang="hu-HU" dirty="0" err="1"/>
              <a:t>WinRate</a:t>
            </a:r>
            <a:r>
              <a:rPr lang="hu-HU" dirty="0"/>
              <a:t>) vagy az átlagos profit/veszteség számítás – segítenek nekik objektíven látni a saját teljesítményüket. A StockMaster tehát mindenkinek szól, aki a tőzsdézést nem szerencsejátéknak, hanem egy elsajátítható szakmának tekinti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347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Minden egy gyors </a:t>
            </a:r>
            <a:r>
              <a:rPr lang="hu-HU" b="1" dirty="0"/>
              <a:t>regisztrációval</a:t>
            </a:r>
            <a:r>
              <a:rPr lang="hu-HU" dirty="0"/>
              <a:t> kezdődik. Miután a rendszer rögzítette a felhasználót a </a:t>
            </a:r>
            <a:r>
              <a:rPr lang="hu-HU" dirty="0" err="1"/>
              <a:t>MySQL</a:t>
            </a:r>
            <a:r>
              <a:rPr lang="hu-HU" dirty="0"/>
              <a:t> adatbázisban, a belépés után azonnal a </a:t>
            </a:r>
            <a:r>
              <a:rPr lang="hu-HU" b="1" dirty="0" err="1"/>
              <a:t>Dashboardra</a:t>
            </a:r>
            <a:r>
              <a:rPr lang="hu-HU" dirty="0"/>
              <a:t> kerül. Itt egy tiszta, átlátható felület fogadja, ahol láthatja a rendelkezésére álló virtuális keretet.</a:t>
            </a:r>
          </a:p>
          <a:p>
            <a:r>
              <a:rPr lang="hu-HU" dirty="0"/>
              <a:t>A használat során a felhasználó a bal oldali </a:t>
            </a:r>
            <a:r>
              <a:rPr lang="hu-HU" b="1" dirty="0"/>
              <a:t>kereső fül</a:t>
            </a:r>
            <a:r>
              <a:rPr lang="hu-HU" dirty="0"/>
              <a:t> segítségével választhatja ki a számára érdekes eszközt. A rendszer lényege az interakció: a felhasználó eldönti, hogy vétel vagy eladás irányba nyit pozíciót. Fontos kiemelni, hogy minden ilyen művelet mögött az </a:t>
            </a:r>
            <a:r>
              <a:rPr lang="hu-HU" b="1" dirty="0"/>
              <a:t>algoritmusunk</a:t>
            </a:r>
            <a:r>
              <a:rPr lang="hu-HU" dirty="0"/>
              <a:t> azonnal ellenőrzi a fedezetet, és rögzíti a tranzakciót.</a:t>
            </a:r>
          </a:p>
          <a:p>
            <a:r>
              <a:rPr lang="hu-HU" dirty="0"/>
              <a:t>Amíg a pozíció nyitva van, a felhasználó nem marad magára. Ellátogathat az </a:t>
            </a:r>
            <a:r>
              <a:rPr lang="hu-HU" b="1" dirty="0"/>
              <a:t>Oktatóanyagok</a:t>
            </a:r>
            <a:r>
              <a:rPr lang="hu-HU" dirty="0"/>
              <a:t> fülre, ahol elméleti segítséget kap a piaci mozgások megértéséhez.</a:t>
            </a:r>
          </a:p>
          <a:p>
            <a:r>
              <a:rPr lang="hu-HU" dirty="0"/>
              <a:t>pozíció lezárásakor történik a legérdekesebb rész: a rendszerünk másodpercek alatt kiszámolja az eredményt, frissíti az egyenleget, és a </a:t>
            </a:r>
            <a:r>
              <a:rPr lang="hu-HU" b="1" dirty="0"/>
              <a:t>Statisztika</a:t>
            </a:r>
            <a:r>
              <a:rPr lang="hu-HU" dirty="0"/>
              <a:t> fülön azonnal láthatóvá válik az ügylet hatása a teljes portfólióra.</a:t>
            </a:r>
          </a:p>
          <a:p>
            <a:r>
              <a:rPr lang="hu-HU" dirty="0"/>
              <a:t>Mind ezek közben a felhasználó ellátogathat a tranzakció fülre is ahol további összeggel növelheti egyenlegét. Illetve Beállítások fülön keresztül a saját profilját állíthatja, illetve híreket olvashat amik teljesen valós időben jelennek meg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132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 StockMaster technológiai hátterét, vagyis a projektünk 'motorháztető alatti' részét mutatjuk be. A szoftver fejlesztése során a klasszikus és megbízható webes technológiák kombinációját választottuk, hogy egy stabil, mégis gyors platformot kapjunk.</a:t>
            </a:r>
          </a:p>
          <a:p>
            <a:r>
              <a:rPr lang="hu-HU" dirty="0"/>
              <a:t>A </a:t>
            </a:r>
            <a:r>
              <a:rPr lang="hu-HU" b="1" dirty="0"/>
              <a:t>Frontend</a:t>
            </a:r>
            <a:r>
              <a:rPr lang="hu-HU" dirty="0"/>
              <a:t> réteg alapjait a </a:t>
            </a:r>
            <a:r>
              <a:rPr lang="hu-HU" b="1" dirty="0"/>
              <a:t>HTML5 és a CSS3</a:t>
            </a:r>
            <a:r>
              <a:rPr lang="hu-HU" dirty="0"/>
              <a:t> adja, ami biztosítja a letisztult megjelenést és a </a:t>
            </a:r>
            <a:r>
              <a:rPr lang="hu-HU" dirty="0" err="1"/>
              <a:t>reszponzivitást</a:t>
            </a:r>
            <a:r>
              <a:rPr lang="hu-HU" dirty="0"/>
              <a:t>. A </a:t>
            </a:r>
            <a:r>
              <a:rPr lang="hu-HU" b="1" dirty="0"/>
              <a:t>JavaScript</a:t>
            </a:r>
            <a:r>
              <a:rPr lang="hu-HU" dirty="0"/>
              <a:t> kulcsszerepet játszik nálunk: ez teszi lehetővé, hogy a gyertya-diagramok és az árfolyamok az oldal </a:t>
            </a:r>
            <a:r>
              <a:rPr lang="hu-HU" dirty="0" err="1"/>
              <a:t>újratöltése</a:t>
            </a:r>
            <a:r>
              <a:rPr lang="hu-HU" dirty="0"/>
              <a:t> nélkül, dinamikusan frissüljenek, valódi tőzsdei élményt nyújtva.</a:t>
            </a:r>
          </a:p>
          <a:p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, tehát a szoftver agya, </a:t>
            </a:r>
            <a:r>
              <a:rPr lang="hu-HU" b="1" dirty="0"/>
              <a:t>PHP</a:t>
            </a:r>
            <a:r>
              <a:rPr lang="hu-HU" dirty="0"/>
              <a:t> nyelven készült. Ez a réteg felel a kritikus üzleti logikáért: itt futnak le a vétel-eladási algoritmusok, itt történik a fedezetellenőrzés, és ez a modul számolja ki a profitot vagy veszteséget minden zárás után.</a:t>
            </a:r>
          </a:p>
          <a:p>
            <a:r>
              <a:rPr lang="hu-HU" dirty="0"/>
              <a:t>Az adatok tárolására </a:t>
            </a:r>
            <a:r>
              <a:rPr lang="hu-HU" b="1" dirty="0" err="1"/>
              <a:t>MySQL</a:t>
            </a:r>
            <a:r>
              <a:rPr lang="hu-HU" dirty="0"/>
              <a:t> relációs adatbázist használunk. Ahogy az adatszerkezeti dokumentációnkban is látható, a rendszerünk normalizált táblákban tárolja a felhasználói profilokat, a kereskedési naplókat és a fejlődési statisztikákat. Ez az összeállítás garantálja, hogy a StockMaster egyszerre legyen biztonságos és villámgyors a lekérdezések során.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9655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adatbázisunk normalizált és hierarchikus. A </a:t>
            </a:r>
            <a:r>
              <a:rPr lang="hu-HU" dirty="0" err="1"/>
              <a:t>Users</a:t>
            </a:r>
            <a:r>
              <a:rPr lang="hu-HU" dirty="0"/>
              <a:t> tábla az alap, ehhez kapcsolódnak a beállítások, a statisztikák és a kereskedési pozíciók. Az </a:t>
            </a:r>
            <a:r>
              <a:rPr lang="hu-HU" dirty="0" err="1"/>
              <a:t>Assets</a:t>
            </a:r>
            <a:r>
              <a:rPr lang="hu-HU" dirty="0"/>
              <a:t> tábla pedig egyfajta katalógusként működik a rendszerben elérhető eszközökhöz. A </a:t>
            </a:r>
            <a:r>
              <a:rPr lang="hu-HU" dirty="0" err="1"/>
              <a:t>UserStats</a:t>
            </a:r>
            <a:r>
              <a:rPr lang="hu-HU" dirty="0"/>
              <a:t> tábla különösen fontos: ez tárolja a </a:t>
            </a:r>
            <a:r>
              <a:rPr lang="hu-HU" dirty="0" err="1"/>
              <a:t>WinRate-et</a:t>
            </a:r>
            <a:r>
              <a:rPr lang="hu-HU" dirty="0"/>
              <a:t> és az átlagos profitot/veszteséget, ami a felhasználó fejlődésének kulcsa. Minden tranzakciót naplózunk a </a:t>
            </a:r>
            <a:r>
              <a:rPr lang="hu-HU" dirty="0" err="1"/>
              <a:t>TransactionsLog</a:t>
            </a:r>
            <a:r>
              <a:rPr lang="hu-HU" dirty="0"/>
              <a:t>-ban, így minden fillér visszakövethető.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8836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tesztelése során az volt a célunk, hogy a felhasználói felület minden interaktív eleme stabilan </a:t>
            </a:r>
            <a:r>
              <a:rPr lang="hu-HU" dirty="0" err="1"/>
              <a:t>működjön</a:t>
            </a:r>
            <a:r>
              <a:rPr lang="hu-HU" dirty="0"/>
              <a:t>. Ehhez a </a:t>
            </a:r>
            <a:r>
              <a:rPr lang="hu-HU" b="1" dirty="0"/>
              <a:t>Robot Framework</a:t>
            </a:r>
            <a:r>
              <a:rPr lang="hu-HU" dirty="0"/>
              <a:t> keretrendszert használtuk, </a:t>
            </a:r>
            <a:r>
              <a:rPr lang="hu-HU" b="1" dirty="0" err="1"/>
              <a:t>Selenium</a:t>
            </a:r>
            <a:r>
              <a:rPr lang="hu-HU" dirty="0"/>
              <a:t> könyvtárral kiegészítve, a teszteseteket pedig a </a:t>
            </a:r>
            <a:r>
              <a:rPr lang="hu-HU" b="1" dirty="0"/>
              <a:t>RIDE</a:t>
            </a:r>
            <a:r>
              <a:rPr lang="hu-HU" dirty="0"/>
              <a:t> grafikus felületén menedzseltük.</a:t>
            </a:r>
          </a:p>
          <a:p>
            <a:r>
              <a:rPr lang="hu-HU" dirty="0"/>
              <a:t>Az automatizált tesztjeink lefedték a teljes felhasználói utat a regisztrációtól kezdve a részvényvásárláson át a kijelentkezésig. A tesztek során a kritikus funkciók – mint például az egyenleg csökkenése vétel után – hibátlanul futottak le. Ugyanakkor azonosítottunk egy magas prioritású esztétikai hibát: az eladás, azaz a </a:t>
            </a:r>
            <a:r>
              <a:rPr lang="hu-HU" dirty="0" err="1"/>
              <a:t>short</a:t>
            </a:r>
            <a:r>
              <a:rPr lang="hu-HU" dirty="0"/>
              <a:t> pozíciók megnyitásakor a grafikus felületen az árfolyam kijelzése néha szétcsúszik. Ezt a hibajegyet rögzítettük, és a vizuális korrekció már folyamatban van.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59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backend tesztelés biztosítja, hogy az alkalmazás üzleti logikája, API végpontjai és adatkezelése hibamentesen működjenek.</a:t>
            </a:r>
            <a:br>
              <a:rPr lang="hu-HU" dirty="0"/>
            </a:br>
            <a:r>
              <a:rPr lang="hu-HU" dirty="0"/>
              <a:t>A képen egy automatizált tesztfuttatás látható, ahol különböző API funkciók kerülnek ellenőrzésre (pl. validációk, limit kezelések, hibakezelés).</a:t>
            </a:r>
          </a:p>
          <a:p>
            <a:r>
              <a:rPr lang="hu-HU" dirty="0"/>
              <a:t>A sikeres tesztek (PASS) azt jelzik, hogy a rendszer stabil, és a különböző </a:t>
            </a:r>
            <a:r>
              <a:rPr lang="hu-HU" dirty="0" err="1"/>
              <a:t>edge</a:t>
            </a:r>
            <a:r>
              <a:rPr lang="hu-HU" dirty="0"/>
              <a:t> </a:t>
            </a:r>
            <a:r>
              <a:rPr lang="hu-HU" dirty="0" err="1"/>
              <a:t>case-eket</a:t>
            </a:r>
            <a:r>
              <a:rPr lang="hu-HU" dirty="0"/>
              <a:t> is megfelelően kezeli. Az automatizált tesztelés kulcsfontosságú a megbízható és skálázható backend fejlesztéshez.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966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Miben más, mint a többi? A legtöbb </a:t>
            </a:r>
            <a:r>
              <a:rPr lang="hu-HU" dirty="0" err="1"/>
              <a:t>platformrögtön</a:t>
            </a:r>
            <a:r>
              <a:rPr lang="hu-HU" dirty="0"/>
              <a:t> mélyvízbe dob a grafikonokkal, ahol a kezdő felhasználó csak találgat. A StockMaster ezzel szemben egy zárt ökoszisztémát alkot.</a:t>
            </a:r>
          </a:p>
          <a:p>
            <a:r>
              <a:rPr lang="hu-HU" b="1" dirty="0"/>
              <a:t>Először is</a:t>
            </a:r>
            <a:r>
              <a:rPr lang="hu-HU" dirty="0"/>
              <a:t>, nálunk az oktatóanyagok (</a:t>
            </a:r>
            <a:r>
              <a:rPr lang="hu-HU" dirty="0" err="1"/>
              <a:t>Tutorials</a:t>
            </a:r>
            <a:r>
              <a:rPr lang="hu-HU" dirty="0"/>
              <a:t>) közvetlenül össze vannak kötve a gyakorlattal. A felhasználó elolvassa a stratégiát, és egy kattintással már tesztelheti is a szimulátorban. </a:t>
            </a:r>
            <a:r>
              <a:rPr lang="hu-HU" b="1" dirty="0"/>
              <a:t>Másodszor</a:t>
            </a:r>
            <a:r>
              <a:rPr lang="hu-HU" dirty="0"/>
              <a:t>, a programunk kiemelkedik az analitika terén. Míg más szoftvereknél neked kell vezetned a kereskedési naplót, a mi backendünk minden zárás után azonnal </a:t>
            </a:r>
            <a:r>
              <a:rPr lang="hu-HU" dirty="0" err="1"/>
              <a:t>újraszámolja</a:t>
            </a:r>
            <a:r>
              <a:rPr lang="hu-HU" dirty="0"/>
              <a:t> a statisztikákat. Pontosan látod a győzelmi arányodat (</a:t>
            </a:r>
            <a:r>
              <a:rPr lang="hu-HU" dirty="0" err="1"/>
              <a:t>WinRate</a:t>
            </a:r>
            <a:r>
              <a:rPr lang="hu-HU" dirty="0"/>
              <a:t>) és azt, hogy melyik eszközzel vagy a leghatékonyabb. Ezt a </a:t>
            </a:r>
            <a:r>
              <a:rPr lang="hu-HU" dirty="0" err="1"/>
              <a:t>UserStats</a:t>
            </a:r>
            <a:r>
              <a:rPr lang="hu-HU" dirty="0"/>
              <a:t> táblánk automatizáltan végzi.</a:t>
            </a:r>
          </a:p>
          <a:p>
            <a:r>
              <a:rPr lang="hu-HU" b="1" dirty="0"/>
              <a:t>Harmadszor</a:t>
            </a:r>
            <a:r>
              <a:rPr lang="hu-HU" dirty="0"/>
              <a:t>, a stabilitás. A projekt során nem csak összedobtuk a kódot, hanem a Robot Framework és </a:t>
            </a:r>
            <a:r>
              <a:rPr lang="hu-HU" dirty="0" err="1"/>
              <a:t>Selenium</a:t>
            </a:r>
            <a:r>
              <a:rPr lang="hu-HU" dirty="0"/>
              <a:t> segítségével ipari sztenderdek szerint teszteltük a frontendet, biztosítva a hibátlan felhasználói utat.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783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Zárásként szeretnénk beszélni arról, hogy merre tovább. </a:t>
            </a:r>
            <a:r>
              <a:rPr lang="hu-HU" b="1" dirty="0"/>
              <a:t>Az első és legfontosabb lépés a mobilalkalmazás fejlesztése.</a:t>
            </a:r>
            <a:r>
              <a:rPr lang="hu-HU" dirty="0"/>
              <a:t> Látjuk, hogy a modern befektetők útközben is szeretnék figyelni a piacaikat, így az iOS és Android verzió kiemelt prioritás nálunk. Ezzel párhuzamosan befejezzük a felhasználói élmény finomítását, beleértve a sötét mód teljeskörű implementálását, amit a tesztelési fázisban már elkezdtünk.</a:t>
            </a:r>
          </a:p>
          <a:p>
            <a:r>
              <a:rPr lang="hu-HU" b="1" dirty="0"/>
              <a:t>A legnagyobb mérföldkő azonban a valós pénzes kereskedés bevezetése lesz.</a:t>
            </a:r>
            <a:r>
              <a:rPr lang="hu-HU" dirty="0"/>
              <a:t> Szeretnénk, ha a nálunk felkészült és sikeresen vizsgázott felhasználók ugyanazon a felületen, de már valódi tőkével is kamatoztathatnák a tudásukat. Ehhez brókeri kapcsolatok kiépítését és még szigorúbb biztonsági protokollokat tervezünk.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188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CC7FB5-9B98-45E2-B3F4-9C2436A63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81CBA97-D8FE-4283-9B00-B30259A1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0009E-A8E3-4E74-BD5F-C3FD291F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F947243-A9A4-4036-85AA-C3B97D47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9660C9-E1E4-48C5-B616-C0215FF2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644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44E742-B688-46FB-A0AD-94B97F28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4846-2310-49F3-B4D6-C5799C83A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EAEB7D-4764-42D7-9A05-E6073151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9CF564-2B3B-4A5B-B091-F019AEDF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9E1A4D-FD89-4633-878B-53A236BD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784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A2F86C-E4A5-4BD6-A405-38114A0F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6CD97CA-734F-4C64-886D-6AC87FAEE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45653B-F4DB-4CC1-AC8D-21A9B11C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3F2C42-4732-488B-BECB-BE80272C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7412473-AE36-4FFF-B2ED-5798D7A5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42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C189AC-4506-4E49-AB36-94D5EEB9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BAAFA5-4C01-4741-A182-A904CE91A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8C96DAC-ACEE-43E3-8567-05A0C5427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A925622-DDFE-4439-9A45-2347FE4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D509D1-D2C9-4FF0-B302-38D1DDF1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95B37C3-03DB-4096-940C-0FB71B4A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030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EE4623-390B-45B6-8D6E-AA71272B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8EC7E5-A432-4744-B8A4-17A140AFD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712B930-6EC3-44E1-8737-4CD8B0E8C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1F16472-0893-4783-BAB3-98DAAA7FE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8D7A166-6B95-465F-B7FA-87A8B2AB3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6308036-43A3-4E41-8B6E-5E9627C8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F0E76BE-E3D9-4C5F-8D4E-42CB6844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D44421E-FD7A-4E7D-B5A0-13F90DD8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667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407361-AE63-4641-B59D-022F7C9D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1B0055E-064F-4B5F-BCD9-99F8348C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276A903-0A74-4B28-AD74-4EF3BD5B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183ABC5-EAE3-4540-9BBF-9069F0C3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95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434491F-937A-4687-A716-0C657F26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946324E-3500-4A7B-AA3D-5B0799BB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8CFDE7D-E5EB-48F3-9676-22EF0F96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886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8DD00-95F9-4F17-938D-81D23C1B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5F52B8-37EA-4C4A-9489-B9FDC1DE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4DB2C4B-74DA-4681-90E2-E0E7726AE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818CE8A-847B-4C41-9FE2-8E5A98BF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40C2240-C39C-436C-9D67-9BDCBF28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F97318-A2A3-4BDE-B2BD-D6FD2147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568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252304-B890-48E3-AFFA-2804BE8A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6E35608-1CC1-4C1E-9D84-AB180B08E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6C8A424-9CC6-4153-8952-3CDFE8AC9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490A039-91F6-4F02-B5C3-B78756BD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3BF87A3-ABFC-4A51-9C82-21346F9A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7DB2862-FAC7-44B7-B4C6-35109A25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15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E8D9C3-DA74-4C29-982E-4E5F1E31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BE05694-6837-4E84-B632-308E4F74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1556FE-19A4-46FE-AA82-0E7EBBA7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079FF9-F2C4-41AD-9C6B-8F7688CA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640EC-2340-4D9D-871C-AC72CECB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8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AAB6ECE-79A0-418D-BED2-61F767B08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92EEF84-5A62-4707-A6DD-57AC4BC3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C4B63DB-7EEB-4C0E-AC3D-E11382DA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150092-21C9-410B-8584-B1589D19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EE0207E-0821-4C04-81F3-4F136FEE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35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F9351C-ED99-4EB9-9830-65D57800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3B83A7-EF3B-4459-9A62-857BBAC89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2A69A3A-8414-4DC1-81D7-E9B3C8501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9038-47AD-43A3-BBBF-D66692911134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1F0A18-4E21-4A7A-8798-4CBAC7275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525174E-4236-4533-BE35-7B646A803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477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Csaki.balazs@diak.szbi-pg.hu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zsigo.robert.jozsef@diak.szbi-pg.hu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hu/photos/k%c3%a9szlet-keresked%c3%a9s-monitor-%c3%bczleti-1863880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A62C8F4F-E02C-4357-9CF1-E8FFF618C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D6207E5-11B7-4945-B609-B13E108D1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75"/>
            <a:ext cx="9144000" cy="2062163"/>
          </a:xfrm>
        </p:spPr>
        <p:txBody>
          <a:bodyPr/>
          <a:lstStyle/>
          <a:p>
            <a:r>
              <a:rPr lang="hu-HU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StockMaster-Tőzsdei platform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F0E1C9D-553A-4DE5-BE9E-1183B969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19338"/>
            <a:ext cx="9144000" cy="452437"/>
          </a:xfrm>
        </p:spPr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</a:t>
            </a:r>
            <a:r>
              <a:rPr lang="hu-HU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70C7246-B265-4061-9F5E-660995C7983B}"/>
              </a:ext>
            </a:extLst>
          </p:cNvPr>
          <p:cNvSpPr txBox="1"/>
          <p:nvPr/>
        </p:nvSpPr>
        <p:spPr>
          <a:xfrm>
            <a:off x="5676900" y="2771775"/>
            <a:ext cx="1038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Készítők: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88540F3-5274-480C-9B54-F32B36466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5812553"/>
            <a:ext cx="1045447" cy="104544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B6CA038-5013-40F4-A471-299167ED6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233" y="2160909"/>
            <a:ext cx="1743461" cy="258253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A34E71C7-6215-49A2-96E2-03461FB5C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06" y="2160909"/>
            <a:ext cx="1743461" cy="258253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820E0DAE-EE69-48EF-B767-A1A763AD42F5}"/>
              </a:ext>
            </a:extLst>
          </p:cNvPr>
          <p:cNvSpPr txBox="1"/>
          <p:nvPr/>
        </p:nvSpPr>
        <p:spPr>
          <a:xfrm>
            <a:off x="1714500" y="4743442"/>
            <a:ext cx="1315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Csáki Balázs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BBD5AED-F91F-46D2-A146-519A31FB0257}"/>
              </a:ext>
            </a:extLst>
          </p:cNvPr>
          <p:cNvSpPr txBox="1"/>
          <p:nvPr/>
        </p:nvSpPr>
        <p:spPr>
          <a:xfrm>
            <a:off x="9476233" y="4743441"/>
            <a:ext cx="1743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Zsígó Róbert</a:t>
            </a:r>
          </a:p>
        </p:txBody>
      </p:sp>
    </p:spTree>
    <p:extLst>
      <p:ext uri="{BB962C8B-B14F-4D97-AF65-F5344CB8AC3E}">
        <p14:creationId xmlns:p14="http://schemas.microsoft.com/office/powerpoint/2010/main" val="326917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3F4C0FD4-3B12-4C7B-93C1-8791E1A10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DB3A2EC-3FF1-45FD-9E7F-AD4C29C1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856" y="27989"/>
            <a:ext cx="12191999" cy="1485900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Projektleírás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7C6D83-3EED-46B1-B268-15692DF84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55" y="1513889"/>
            <a:ext cx="8114297" cy="4251910"/>
          </a:xfrm>
        </p:spPr>
        <p:txBody>
          <a:bodyPr/>
          <a:lstStyle/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tőzsdei platform valós idejű árakkal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Felhasználóbarát oktató alkalmazás kezdőknek.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Interaktív tanulási környezet: elmélet és gyakorlat együtt.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Egy kockázatmentes „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környezet, ahol elméleti tudás (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tutorialok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és gyakorlati szimuláció találkozik. </a:t>
            </a:r>
          </a:p>
          <a:p>
            <a:endParaRPr lang="hu-HU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D706776-77F4-47F3-84BC-F5E36CEFA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250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AC3A42DB-A292-418F-8231-71CA72C37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0CC253A-6FB0-432F-8A80-F7D10E0D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Célfelhasználók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5B99B1-1770-4900-B64F-C7300B2AF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Virtuális környezetben k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ckázatmentesen gyakorolni akaró kezdők</a:t>
            </a:r>
          </a:p>
          <a:p>
            <a:pPr algn="l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nem túl magabiztos, nem sok tapasztalattal rendelkező kezdő kereskedők</a:t>
            </a:r>
          </a:p>
          <a:p>
            <a:pPr algn="l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tapasztalt haladó illetve profi kereskedők egyaránt</a:t>
            </a:r>
            <a:endParaRPr lang="hu-HU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0A0F055-EBB1-411D-B216-53E39C911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96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5105D4B-44B0-451E-809C-1CEB5F1C5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8261EA8-6DD7-4200-B757-C3D623FF8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Használat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AFD0D0-46A9-4205-B30F-11CD74A40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után </a:t>
            </a:r>
            <a:r>
              <a:rPr lang="hu-HU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számla aktiválása HA van már fiók akkor bejelentkezés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Kívánt részvény kiválasztása, illetve oktatóanyagok, hírek, riportok diagrammok megfigyelése saját kívánság szerint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hu-H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89A5551-DA22-46DD-AD4F-84FF70D36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02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DC26AD46-D810-4E62-B180-77DB7AD1D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D78A363-20F9-4484-BBF9-214B2558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128688-7208-469E-B64E-4ECF1A6E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Frontend-Vue.js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C93CE88-8FC6-4EF8-A497-0C8D4AE41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65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E4815600-7136-4366-9460-CECE80029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1B49CDF-7F46-448E-BC2A-42B5B828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Adatszerkezet és 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5D6986-5082-4874-85AB-732D6A2E2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Felhasználói adatok: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Piaci adatok: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(részvények), PriceData (történeti árak).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Tranzakciók: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(nyitott/zárt pozíciók),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TransactionsLog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Normalizált adatbázis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878BF87-6953-4138-B50E-541A798B6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16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9FE15EF2-FE62-4DEE-A7ED-C984CA7E9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854DA53C-BA5F-4190-8443-2E8F0A21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Frontend-Tesztelés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EC9F170-742E-4283-982F-8FA8307E3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1168" cy="4351338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Sikeres tesztek: Belépés, regisztráció, vétel, tranzakciók, kijelentkezés, gombok és funkciói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Magas prioritású tesztesetek a biztonságos működésért</a:t>
            </a:r>
          </a:p>
          <a:p>
            <a:endParaRPr lang="hu-HU" dirty="0"/>
          </a:p>
        </p:txBody>
      </p:sp>
      <p:pic>
        <p:nvPicPr>
          <p:cNvPr id="1030" name="Picture 6" descr="Robot Framework - Wikipedia">
            <a:extLst>
              <a:ext uri="{FF2B5EF4-FFF2-40B4-BE49-F238E27FC236}">
                <a16:creationId xmlns:a16="http://schemas.microsoft.com/office/drawing/2014/main" id="{5187D23B-744E-4B90-8D94-D4E09A6FE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568" y="1486694"/>
            <a:ext cx="1388394" cy="138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8B9E51B-6861-4D84-A5E1-61D7D419B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  <p:pic>
        <p:nvPicPr>
          <p:cNvPr id="1032" name="Picture 8" descr="Selenium Automation Testing Services Company India, Singapore, Hong Kong,  Canada – ANGLER Technologies">
            <a:extLst>
              <a:ext uri="{FF2B5EF4-FFF2-40B4-BE49-F238E27FC236}">
                <a16:creationId xmlns:a16="http://schemas.microsoft.com/office/drawing/2014/main" id="{821A2D7D-F81E-4584-8CB0-0112B782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962" y="1486694"/>
            <a:ext cx="1388394" cy="138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299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CEFF17C2-5026-403D-A101-6AC9B36B7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C7BBF2-3BAE-4485-A30E-E3D57385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Backend-Tesztelés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F626411F-FE9B-4941-AB11-D890EF19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Automatizált API tesztek futtatása (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Artisan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Minden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külön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validálva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Hibakezelés és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 is tesztelve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 teszt, 129 ellenőrzés → minden sikeres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Gyors visszajelzés fejlesztés közben 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8A924F7-ECFE-48E4-8CF6-A10FD1DD4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BB05DED-A3C6-4A36-BE0E-04F2C7E3E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960" y="3543036"/>
            <a:ext cx="4384040" cy="331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907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DDE1B41-B9D2-4AC3-8FC3-143E40A50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7" name="Cím 6">
            <a:extLst>
              <a:ext uri="{FF2B5EF4-FFF2-40B4-BE49-F238E27FC236}">
                <a16:creationId xmlns:a16="http://schemas.microsoft.com/office/drawing/2014/main" id="{6D732CAD-ACD9-4D47-B378-2E1BECA1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Csapatmunka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6016BF16-FC6A-4835-B6F2-1A13A288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Drive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Messenger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5A3F57A-2CEB-49D2-B2EE-C3A9F9798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  <p:pic>
        <p:nvPicPr>
          <p:cNvPr id="2050" name="Picture 2" descr="With GitHub - PyXAI documentation">
            <a:extLst>
              <a:ext uri="{FF2B5EF4-FFF2-40B4-BE49-F238E27FC236}">
                <a16:creationId xmlns:a16="http://schemas.microsoft.com/office/drawing/2014/main" id="{C91D4B1C-28D8-4B24-9C45-7AF0768E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04" y="3635844"/>
            <a:ext cx="2067726" cy="116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oogle Drive - Wikipedia">
            <a:extLst>
              <a:ext uri="{FF2B5EF4-FFF2-40B4-BE49-F238E27FC236}">
                <a16:creationId xmlns:a16="http://schemas.microsoft.com/office/drawing/2014/main" id="{C093FB46-E22D-403B-8679-CDC38DFD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212" y="3597520"/>
            <a:ext cx="1349378" cy="120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518CB52-3E47-4504-895F-F1150B106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181" y="3591368"/>
            <a:ext cx="1207039" cy="120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6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AB058BBB-A56C-4033-9558-393C6400D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927A1CC-B626-4FD7-B5EA-AC6C07E3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Miért jobb a StockMaster?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63D8CE-BC1C-4416-BCBB-04C7AEC9E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Összetett oktatás: Nem csak grafikon, hanem tananyag is. 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Kockázatmentes Realizmus: Valós piaci adatok és gyertya-diagramok használata virtuális tőkével. 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Személyre szabhatóság: Felhasználói igényekre szabható felület és értesítési rendszer.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680CDE4-862F-43C6-A965-07B8F9DE1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02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FAFE987A-C355-4DD6-9E62-033024DC6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4440782-A7ED-4345-8A29-4337A7F8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Jövőbeli fejlesztések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50714E-464D-4685-89EA-4ECECDF35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Mobilalkalmazás (iOS/Android): Kereskedés és tanulás bárhol, bármikor.</a:t>
            </a:r>
          </a:p>
          <a:p>
            <a:r>
              <a:rPr lang="hu-HU" dirty="0">
                <a:solidFill>
                  <a:schemeClr val="bg1"/>
                </a:solidFill>
              </a:rPr>
              <a:t>Éles számla integráció: Átlépés a demó környezetből a valós tőzsdére.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75176DE-3290-4929-8BF7-9731DD2A0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5788BB5-00AE-4CF1-AA6D-780E72F18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3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DBBEA73C-9919-4FA6-88CC-F864FB012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0B80A2A-44D2-480A-921D-4894D125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89258B-52B6-4102-BAB4-745EA1B40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Elérhetőségek: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csaki.balazs@diak.szbi-pg.hu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zsigo.robert.jozsef@diak.szbi-pg.hu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26CA1FF-3365-4CE9-9188-E313CA627D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2553"/>
            <a:ext cx="1045447" cy="10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2994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92A8B7-213D-48A2-A400-215142688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18ED8F9-B759-4BCC-8D27-393FB748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13B84-4F05-4D56-BCA0-02417EBA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600" dirty="0">
                <a:solidFill>
                  <a:schemeClr val="bg1"/>
                </a:solidFill>
                <a:hlinkClick r:id="rId3"/>
              </a:rPr>
              <a:t>https://pixabay.com/hu/photos/k%c3%a9szlet-keresked%c3%a9s-monitor-%c3%bczleti-1863880/</a:t>
            </a:r>
            <a:endParaRPr lang="hu-HU" sz="1600" dirty="0">
              <a:solidFill>
                <a:schemeClr val="bg1"/>
              </a:solidFill>
            </a:endParaRPr>
          </a:p>
          <a:p>
            <a:endParaRPr lang="hu-H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060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Microsoft Office PowerPoint</Application>
  <PresentationFormat>Szélesvásznú</PresentationFormat>
  <Paragraphs>91</Paragraphs>
  <Slides>13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Times New Roman</vt:lpstr>
      <vt:lpstr>Office-téma</vt:lpstr>
      <vt:lpstr>StockMaster-Tőzsdei platform</vt:lpstr>
      <vt:lpstr>Projektleírás</vt:lpstr>
      <vt:lpstr>Célfelhasználók</vt:lpstr>
      <vt:lpstr>Használat</vt:lpstr>
      <vt:lpstr>Program</vt:lpstr>
      <vt:lpstr>Adatszerkezet és Adatbázis</vt:lpstr>
      <vt:lpstr>Frontend-Tesztelés</vt:lpstr>
      <vt:lpstr>Backend-Tesztelés</vt:lpstr>
      <vt:lpstr>Csapatmunka</vt:lpstr>
      <vt:lpstr>Miért jobb a StockMaster?</vt:lpstr>
      <vt:lpstr>Jövőbeli fejlesztések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StockMaster-Tőzsdei platform</dc:title>
  <dc:creator>Zsígó Róbert</dc:creator>
  <cp:lastModifiedBy>Zsígó Róbert</cp:lastModifiedBy>
  <cp:revision>25</cp:revision>
  <dcterms:created xsi:type="dcterms:W3CDTF">2026-03-03T07:56:03Z</dcterms:created>
  <dcterms:modified xsi:type="dcterms:W3CDTF">2026-03-24T11:34:58Z</dcterms:modified>
</cp:coreProperties>
</file>