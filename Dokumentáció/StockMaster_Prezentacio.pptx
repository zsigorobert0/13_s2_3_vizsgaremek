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9" r:id="rId7"/>
    <p:sldId id="272" r:id="rId8"/>
    <p:sldId id="273" r:id="rId9"/>
    <p:sldId id="267" r:id="rId10"/>
    <p:sldId id="270" r:id="rId11"/>
    <p:sldId id="268" r:id="rId12"/>
    <p:sldId id="271" r:id="rId13"/>
    <p:sldId id="274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205" autoAdjust="0"/>
  </p:normalViewPr>
  <p:slideViewPr>
    <p:cSldViewPr snapToGrid="0">
      <p:cViewPr varScale="1">
        <p:scale>
          <a:sx n="101" d="100"/>
          <a:sy n="101" d="100"/>
        </p:scale>
        <p:origin x="9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Minden egy gyors </a:t>
            </a:r>
            <a:r>
              <a:rPr lang="hu-HU" b="1" dirty="0"/>
              <a:t>regisztrációval</a:t>
            </a:r>
            <a:r>
              <a:rPr lang="hu-HU" dirty="0"/>
              <a:t> kezdődik. Miután a rendszer rögzítette a felhasználót a </a:t>
            </a:r>
            <a:r>
              <a:rPr lang="hu-HU" dirty="0" err="1"/>
              <a:t>MySQL</a:t>
            </a:r>
            <a:r>
              <a:rPr lang="hu-HU" dirty="0"/>
              <a:t> adatbázisban, a belépés után azonnal a </a:t>
            </a:r>
            <a:r>
              <a:rPr lang="hu-HU" b="1" dirty="0" err="1"/>
              <a:t>Dashboardra</a:t>
            </a:r>
            <a:r>
              <a:rPr lang="hu-HU" dirty="0"/>
              <a:t> kerül. Itt egy tiszta, átlátható felület fogadja, ahol láthatja a rendelkezésére álló virtuális keretet.</a:t>
            </a:r>
          </a:p>
          <a:p>
            <a:r>
              <a:rPr lang="hu-HU" dirty="0"/>
              <a:t>A használat során a felhasználó a bal oldali </a:t>
            </a:r>
            <a:r>
              <a:rPr lang="hu-HU" b="1" dirty="0"/>
              <a:t>kereső fül</a:t>
            </a:r>
            <a:r>
              <a:rPr lang="hu-HU" dirty="0"/>
              <a:t> segítségével választhatja ki a számára érdekes eszközt. A rendszer lényege az interakció: a felhasználó eldönti, hogy vétel vagy eladás irányba nyit pozíciót. Fontos kiemelni, hogy minden ilyen művelet mögött az </a:t>
            </a:r>
            <a:r>
              <a:rPr lang="hu-HU" b="1" dirty="0"/>
              <a:t>algoritmusunk</a:t>
            </a:r>
            <a:r>
              <a:rPr lang="hu-HU" dirty="0"/>
              <a:t> azonnal ellenőrzi a fedezetet, és rögzíti a tranzakciót.</a:t>
            </a:r>
          </a:p>
          <a:p>
            <a:r>
              <a:rPr lang="hu-HU" dirty="0"/>
              <a:t>Amíg a pozíció nyitva van, a felhasználó nem marad magára. Ellátogathat az </a:t>
            </a:r>
            <a:r>
              <a:rPr lang="hu-HU" b="1" dirty="0"/>
              <a:t>Oktatóanyagok</a:t>
            </a:r>
            <a:r>
              <a:rPr lang="hu-HU" dirty="0"/>
              <a:t> fülre, ahol elméleti segítséget kap a piaci mozgások megértéséhez.</a:t>
            </a:r>
          </a:p>
          <a:p>
            <a:r>
              <a:rPr lang="hu-HU" dirty="0"/>
              <a:t>pozíció lezárásakor történik a legérdekesebb rész: a rendszerünk másodpercek alatt kiszámolja az eredményt, frissíti az egyenleget, és a </a:t>
            </a:r>
            <a:r>
              <a:rPr lang="hu-HU" b="1" dirty="0"/>
              <a:t>Statisztika</a:t>
            </a:r>
            <a:r>
              <a:rPr lang="hu-HU" dirty="0"/>
              <a:t> fülön azonnal láthatóvá válik az ügylet hatása a teljes portfólióra.</a:t>
            </a:r>
          </a:p>
          <a:p>
            <a:r>
              <a:rPr lang="hu-HU" dirty="0"/>
              <a:t>Mind ezek közben a felhasználó ellátogathat a tranzakció fülre is ahol további összeggel növelheti egyenlegét. Illetve Beállítások fülön keresztül a saját profilját állíthatja, illetve híreket olvashat amik teljesen valós időben jelennek meg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1326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tesztelés biztosítja, hogy az alkalmazás üzleti logikája, API végpontjai és adatkezelése hibamentesen működjenek.</a:t>
            </a:r>
            <a:br>
              <a:rPr lang="hu-HU" dirty="0"/>
            </a:br>
            <a:r>
              <a:rPr lang="hu-HU" dirty="0"/>
              <a:t>A képen egy automatizált tesztfuttatás látható, ahol különböző API funkciók kerülnek ellenőrzésre (pl. validációk, limit kezelések, hibakezelés).</a:t>
            </a:r>
          </a:p>
          <a:p>
            <a:r>
              <a:rPr lang="hu-HU" dirty="0"/>
              <a:t>A sikeres tesztek (PASS) azt jelzik, hogy a rendszer stabil, és a különböző </a:t>
            </a:r>
            <a:r>
              <a:rPr lang="hu-HU" dirty="0" err="1"/>
              <a:t>edge</a:t>
            </a:r>
            <a:r>
              <a:rPr lang="hu-HU" dirty="0"/>
              <a:t> </a:t>
            </a:r>
            <a:r>
              <a:rPr lang="hu-HU" dirty="0" err="1"/>
              <a:t>case-eket</a:t>
            </a:r>
            <a:r>
              <a:rPr lang="hu-HU" dirty="0"/>
              <a:t> is megfelelően kezeli. Az automatizált tesztelés kulcsfontosságú a megbízható és skálázható backend fejlesztéshez.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9666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Csaki.balazs@diak.szbi-pg.hu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mailto:zsigo.robert.jozsef@diak.szbi-pg.hu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hu/photos/k%c3%a9szlet-keresked%c3%a9s-monitor-%c3%bczleti-1863880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7175"/>
            <a:ext cx="9144000" cy="2062163"/>
          </a:xfrm>
        </p:spPr>
        <p:txBody>
          <a:bodyPr/>
          <a:lstStyle/>
          <a:p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StockMaster-Tőzsdei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19338"/>
            <a:ext cx="9144000" cy="452437"/>
          </a:xfrm>
        </p:spPr>
        <p:txBody>
          <a:bodyPr/>
          <a:lstStyle/>
          <a:p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5676900" y="2771775"/>
            <a:ext cx="1038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E88540F3-5274-480C-9B54-F32B364662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5812553"/>
            <a:ext cx="1045447" cy="104544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B6CA038-5013-40F4-A471-299167ED60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5233" y="2160909"/>
            <a:ext cx="1743461" cy="2582536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34E71C7-6215-49A2-96E2-03461FB5C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3306" y="2160909"/>
            <a:ext cx="1743461" cy="2582533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820E0DAE-EE69-48EF-B767-A1A763AD42F5}"/>
              </a:ext>
            </a:extLst>
          </p:cNvPr>
          <p:cNvSpPr txBox="1"/>
          <p:nvPr/>
        </p:nvSpPr>
        <p:spPr>
          <a:xfrm>
            <a:off x="1714500" y="4743442"/>
            <a:ext cx="1315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Csáki Balázs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BBD5AED-F91F-46D2-A146-519A31FB0257}"/>
              </a:ext>
            </a:extLst>
          </p:cNvPr>
          <p:cNvSpPr txBox="1"/>
          <p:nvPr/>
        </p:nvSpPr>
        <p:spPr>
          <a:xfrm>
            <a:off x="9476233" y="4743441"/>
            <a:ext cx="17434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Zsígó Róbert</a:t>
            </a:r>
          </a:p>
        </p:txBody>
      </p:sp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3F4C0FD4-3B12-4C7B-93C1-8791E1A10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9D706776-77F4-47F3-84BC-F5E36CEFA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AC3A42DB-A292-418F-8231-71CA72C37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0A0F055-EBB1-411D-B216-53E39C9117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5105D4B-44B0-451E-809C-1CEB5F1C5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8261EA8-6DD7-4200-B757-C3D623FF8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Használat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AAFD0D0-46A9-4205-B30F-11CD74A40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után </a:t>
            </a:r>
            <a:r>
              <a:rPr lang="hu-HU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számla aktiválása HA van már fiók akkor bejelentkezés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Kívánt részvény kiválasztása, illetve oktatóanyagok, hírek, riportok diagrammok megfigyelése saját kívánság szerint</a:t>
            </a:r>
          </a:p>
          <a:p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hu-HU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89A5551-DA22-46DD-AD4F-84FF70D36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0251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C26AD46-D810-4E62-B180-77DB7AD1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hu-HU" dirty="0">
              <a:solidFill>
                <a:schemeClr val="bg1"/>
              </a:solidFill>
            </a:endParaRPr>
          </a:p>
          <a:p>
            <a:pPr lvl="1">
              <a:buFont typeface="Courier New" panose="02070309020205020404" pitchFamily="49" charset="0"/>
              <a:buChar char="o"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C93CE88-8FC6-4EF8-A497-0C8D4AE41F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E4815600-7136-4366-9460-CECE800297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878BF87-6953-4138-B50E-541A798B6B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9FE15EF2-FE62-4DEE-A7ED-C984CA7E9C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 Belépés, regisztráció, vétel, tranzakciók, kijelentkezés, gombok és funkciói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568" y="1486694"/>
            <a:ext cx="1388394" cy="13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8B9E51B-6861-4D84-A5E1-61D7D419B5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5962" y="1486694"/>
            <a:ext cx="1388394" cy="13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CEFF17C2-5026-403D-A101-6AC9B36B70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Backend-Tesztelés</a:t>
            </a:r>
          </a:p>
        </p:txBody>
      </p:sp>
      <p:sp>
        <p:nvSpPr>
          <p:cNvPr id="7" name="Tartalom helye 6">
            <a:extLst>
              <a:ext uri="{FF2B5EF4-FFF2-40B4-BE49-F238E27FC236}">
                <a16:creationId xmlns:a16="http://schemas.microsoft.com/office/drawing/2014/main" id="{F626411F-FE9B-4941-AB11-D890EF195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Automatizált API tesztek futtatása (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Artisan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Minden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külön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validálva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Hibakezelés és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limit is tesztelve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25 teszt, 129 ellenőrzés → minden sikeres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Gyors visszajelzés fejlesztés közben 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58A924F7-ECFE-48E4-8CF6-A10FD1DD42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BB05DED-A3C6-4A36-BE0E-04F2C7E3EA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960" y="3543036"/>
            <a:ext cx="4384040" cy="3314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8DDE1B41-B9D2-4AC3-8FC3-143E40A50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5A3F57A-2CEB-49D2-B2EE-C3A9F9798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404" y="3635844"/>
            <a:ext cx="2067726" cy="1168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212" y="3597520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2181" y="3591368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B058BBB-A56C-4033-9558-393C6400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680CDE4-862F-43C6-A965-07B8F9DE13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AFE987A-C355-4DD6-9E62-033024DC6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</a:rPr>
              <a:t>Éles számla integráció: Átlépés a demó környezetből a valós tőzsdére.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75176DE-3290-4929-8BF7-9731DD2A0A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5788BB5-00AE-4CF1-AA6D-780E72F188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DBBEA73C-9919-4FA6-88CC-F864FB012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csaki.balazs@diak.szbi-pg.hu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zsigo.robert.jozsef@diak.szbi-pg.hu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26CA1FF-3365-4CE9-9188-E313CA627D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12553"/>
            <a:ext cx="1045447" cy="104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492A8B7-213D-48A2-A400-215142688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18ED8F9-B759-4BCC-8D27-393FB748C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Források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13B84-4F05-4D56-BCA0-02417EBAA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600" dirty="0">
                <a:solidFill>
                  <a:schemeClr val="bg1"/>
                </a:solidFill>
                <a:hlinkClick r:id="rId3"/>
              </a:rPr>
              <a:t>https://pixabay.com/hu/photos/k%c3%a9szlet-keresked%c3%a9s-monitor-%c3%bczleti-1863880/</a:t>
            </a:r>
            <a:endParaRPr lang="hu-HU" sz="1600" dirty="0">
              <a:solidFill>
                <a:schemeClr val="bg1"/>
              </a:solidFill>
            </a:endParaRPr>
          </a:p>
          <a:p>
            <a:endParaRPr lang="hu-HU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9060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1510</Words>
  <Application>Microsoft Office PowerPoint</Application>
  <PresentationFormat>Szélesvásznú</PresentationFormat>
  <Paragraphs>91</Paragraphs>
  <Slides>13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Courier New</vt:lpstr>
      <vt:lpstr>Times New Roman</vt:lpstr>
      <vt:lpstr>Office-téma</vt:lpstr>
      <vt:lpstr>StockMaster-Tőzsdei platform</vt:lpstr>
      <vt:lpstr>Projektleírás</vt:lpstr>
      <vt:lpstr>Célfelhasználók</vt:lpstr>
      <vt:lpstr>Használat</vt:lpstr>
      <vt:lpstr>Program</vt:lpstr>
      <vt:lpstr>Adatszerkezet és Adatbázis</vt:lpstr>
      <vt:lpstr>Frontend-Tesztelés</vt:lpstr>
      <vt:lpstr>Backend-Tesztelés</vt:lpstr>
      <vt:lpstr>Csapatmunka</vt:lpstr>
      <vt:lpstr>Miért jobb a StockMaster?</vt:lpstr>
      <vt:lpstr>Jövőbeli fejlesztések</vt:lpstr>
      <vt:lpstr>Köszönjük a Figyelmet!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25</cp:revision>
  <dcterms:created xsi:type="dcterms:W3CDTF">2026-03-03T07:56:03Z</dcterms:created>
  <dcterms:modified xsi:type="dcterms:W3CDTF">2026-03-27T09:43:26Z</dcterms:modified>
</cp:coreProperties>
</file>