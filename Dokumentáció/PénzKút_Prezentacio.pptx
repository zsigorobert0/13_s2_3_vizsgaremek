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64" r:id="rId6"/>
    <p:sldId id="272" r:id="rId7"/>
    <p:sldId id="263" r:id="rId8"/>
    <p:sldId id="273" r:id="rId9"/>
    <p:sldId id="275" r:id="rId10"/>
    <p:sldId id="269" r:id="rId11"/>
    <p:sldId id="267" r:id="rId12"/>
    <p:sldId id="270" r:id="rId13"/>
    <p:sldId id="268" r:id="rId14"/>
    <p:sldId id="271" r:id="rId15"/>
    <p:sldId id="274" r:id="rId16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4614" autoAdjust="0"/>
  </p:normalViewPr>
  <p:slideViewPr>
    <p:cSldViewPr snapToGrid="0">
      <p:cViewPr varScale="1">
        <p:scale>
          <a:sx n="84" d="100"/>
          <a:sy n="84" d="100"/>
        </p:scale>
        <p:origin x="163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B7823A-862C-422A-A575-936A9871EC5A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8BB5B3-9749-486C-A43B-73D16959CA0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47436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Üdvözlünk mindenkit! Ma a StockMaster projektet mutatjuk be. Ez egy tőzsdei szimulációs és oktató platform, amit azért hoztunk létre, hogy a kezdő kereskedők kockázatmentesen, '</a:t>
            </a:r>
            <a:r>
              <a:rPr lang="hu-HU" dirty="0" err="1"/>
              <a:t>demo</a:t>
            </a:r>
            <a:r>
              <a:rPr lang="hu-HU" dirty="0"/>
              <a:t>' környezetben sajátíthassák el a pénzügyi piacok működését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8BB5B3-9749-486C-A43B-73D16959CA08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399451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StockMaster projekt ötlete abból a felismerésből indult, hogy a tőzsdei kereskedés világa a kezdők számára gyakran átláthatatlan és rendkívül kockázatos. Sokan már az első lépéseknél elveszítik a tőkéjüket a tapasztalat hiánya miatt.</a:t>
            </a:r>
          </a:p>
          <a:p>
            <a:r>
              <a:rPr lang="hu-HU" dirty="0"/>
              <a:t>A mi megoldásunk egy olyan webes platform, amely '</a:t>
            </a:r>
            <a:r>
              <a:rPr lang="hu-HU" dirty="0" err="1"/>
              <a:t>demo</a:t>
            </a:r>
            <a:r>
              <a:rPr lang="hu-HU" dirty="0"/>
              <a:t>' pénzzel teszi lehetővé a tőzsde megismerését. A projekt lényege nem csak a vétel és eladás gombok nyomogatása, hanem a tudatos tanulás. A rendszerbe integráltunk egy oktatási modult is, ahol a felhasználók </a:t>
            </a:r>
            <a:r>
              <a:rPr lang="hu-HU"/>
              <a:t>elméleti tudást </a:t>
            </a:r>
            <a:r>
              <a:rPr lang="hu-HU" dirty="0"/>
              <a:t>meríthetnek a sikeres kereskedéshez.</a:t>
            </a:r>
          </a:p>
          <a:p>
            <a:r>
              <a:rPr lang="hu-HU" dirty="0"/>
              <a:t>Ahogy a specifikációban is rögzítettük, a szoftver egy teljes értékű szimulációs környezet. A felhasználó regisztráció után egy virtuális egyenleggel gazdálkodik, valós piaci eszközökkel kereskedhet, miközben a háttérben futó algoritmusaink folyamatosan elemzik a döntéseit. Így a StockMaster egyszerre szoftver, szimulátor és digitális mentor.</a:t>
            </a:r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8BB5B3-9749-486C-A43B-73D16959CA08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423891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Elsődleges célcsoportunk az </a:t>
            </a:r>
            <a:r>
              <a:rPr lang="hu-HU" b="1" dirty="0"/>
              <a:t>abszolút kezdők</a:t>
            </a:r>
            <a:r>
              <a:rPr lang="hu-HU" dirty="0"/>
              <a:t> köre. Azok az emberek, akik hallottak már a tőzsdéről, látják a hírekben az árfolyamokat, de félnek megtenni az első lépést, mert tartanak a pénzveszteségtől. A mi platformunk nekik ad egy biztonsági hálót. Végül, de nem utolsósorban a </a:t>
            </a:r>
            <a:r>
              <a:rPr lang="hu-HU" b="1" dirty="0"/>
              <a:t>tapasztaltabb, de óvatos kereskedőknek</a:t>
            </a:r>
            <a:r>
              <a:rPr lang="hu-HU" dirty="0"/>
              <a:t> is hasznos a program. A szoftver részletes statisztikai visszajelzései – mint a nyereségi ráta (</a:t>
            </a:r>
            <a:r>
              <a:rPr lang="hu-HU" dirty="0" err="1"/>
              <a:t>WinRate</a:t>
            </a:r>
            <a:r>
              <a:rPr lang="hu-HU" dirty="0"/>
              <a:t>) vagy az átlagos profit/veszteség számítás – segítenek nekik objektíven látni a saját teljesítményüket. A StockMaster tehát mindenkinek szól, aki a tőzsdézést nem szerencsejátéknak, hanem egy elsajátítható szakmának tekinti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8BB5B3-9749-486C-A43B-73D16959CA08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834718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Ezen a dián a StockMaster technológiai hátterét, vagyis a projektünk 'motorháztető alatti' részét mutatjuk be. A szoftver fejlesztése során a klasszikus és megbízható webes technológiák kombinációját választottuk, hogy egy stabil, mégis gyors platformot kapjunk.</a:t>
            </a:r>
          </a:p>
          <a:p>
            <a:r>
              <a:rPr lang="hu-HU" dirty="0"/>
              <a:t>A </a:t>
            </a:r>
            <a:r>
              <a:rPr lang="hu-HU" b="1" dirty="0"/>
              <a:t>Frontend</a:t>
            </a:r>
            <a:r>
              <a:rPr lang="hu-HU" dirty="0"/>
              <a:t> réteg alapjait a </a:t>
            </a:r>
            <a:r>
              <a:rPr lang="hu-HU" b="1" dirty="0"/>
              <a:t>HTML5 és a CSS3</a:t>
            </a:r>
            <a:r>
              <a:rPr lang="hu-HU" dirty="0"/>
              <a:t> adja, ami biztosítja a letisztult megjelenést és a </a:t>
            </a:r>
            <a:r>
              <a:rPr lang="hu-HU" dirty="0" err="1"/>
              <a:t>reszponzivitást</a:t>
            </a:r>
            <a:r>
              <a:rPr lang="hu-HU" dirty="0"/>
              <a:t>. A </a:t>
            </a:r>
            <a:r>
              <a:rPr lang="hu-HU" b="1" dirty="0"/>
              <a:t>JavaScript</a:t>
            </a:r>
            <a:r>
              <a:rPr lang="hu-HU" dirty="0"/>
              <a:t> kulcsszerepet játszik nálunk: ez teszi lehetővé, hogy a gyertya-diagramok és az árfolyamok az oldal </a:t>
            </a:r>
            <a:r>
              <a:rPr lang="hu-HU" dirty="0" err="1"/>
              <a:t>újratöltése</a:t>
            </a:r>
            <a:r>
              <a:rPr lang="hu-HU" dirty="0"/>
              <a:t> nélkül, dinamikusan frissüljenek, valódi tőzsdei élményt nyújtva.</a:t>
            </a:r>
          </a:p>
          <a:p>
            <a:r>
              <a:rPr lang="hu-HU" dirty="0"/>
              <a:t>A </a:t>
            </a:r>
            <a:r>
              <a:rPr lang="hu-HU" b="1" dirty="0"/>
              <a:t>Backend</a:t>
            </a:r>
            <a:r>
              <a:rPr lang="hu-HU" dirty="0"/>
              <a:t>, tehát a szoftver agya, </a:t>
            </a:r>
            <a:r>
              <a:rPr lang="hu-HU" b="1" dirty="0"/>
              <a:t>PHP</a:t>
            </a:r>
            <a:r>
              <a:rPr lang="hu-HU" dirty="0"/>
              <a:t> nyelven készült. Ez a réteg felel a kritikus üzleti logikáért: itt futnak le a vétel-eladási algoritmusok, itt történik a fedezetellenőrzés, és ez a modul számolja ki a profitot vagy veszteséget minden zárás után.</a:t>
            </a:r>
          </a:p>
          <a:p>
            <a:r>
              <a:rPr lang="hu-HU" dirty="0"/>
              <a:t>Az adatok tárolására </a:t>
            </a:r>
            <a:r>
              <a:rPr lang="hu-HU" b="1" dirty="0" err="1"/>
              <a:t>MySQL</a:t>
            </a:r>
            <a:r>
              <a:rPr lang="hu-HU" dirty="0"/>
              <a:t> relációs adatbázist használunk. Ahogy az adatszerkezeti dokumentációnkban is látható, a rendszerünk normalizált táblákban tárolja a felhasználói profilokat, a kereskedési naplókat és a fejlődési statisztikákat. Ez az összeállítás garantálja, hogy a StockMaster egyszerre legyen biztonságos és villámgyors a lekérdezések során.</a:t>
            </a:r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8BB5B3-9749-486C-A43B-73D16959CA08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396554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frontend fejlesztésekor a legfőbb szempontunk az volt, hogy egy tőzsdei szoftver komplexitását érthetővé és átláthatóvá tegyük a kezdők számára is.</a:t>
            </a:r>
          </a:p>
          <a:p>
            <a:r>
              <a:rPr lang="hu-HU" dirty="0"/>
              <a:t>A technológiai alapokat a </a:t>
            </a:r>
            <a:r>
              <a:rPr lang="hu-HU" b="1" dirty="0"/>
              <a:t>HTML5, CSS3 és a JavaScript</a:t>
            </a:r>
            <a:r>
              <a:rPr lang="hu-HU" dirty="0"/>
              <a:t> szolgáltatják. Utóbbi teszi lehetővé, hogy a platformunk ne legyen statikus: a gyertya-diagramok dinamikusan rajzolódnak ki, és a felhasználó igénye szerint válthat az idősíkok között, legyen szó 1 perces vagy akár heti bontásról.</a:t>
            </a:r>
          </a:p>
          <a:p>
            <a:r>
              <a:rPr lang="hu-HU" dirty="0"/>
              <a:t>nagy hangsúlyt fektettünk az esztétikára. A bal oldali keresősáv segítségével a felhasználók gyorsan válthatnak a különböző részvények és </a:t>
            </a:r>
            <a:r>
              <a:rPr lang="hu-HU" dirty="0" err="1"/>
              <a:t>kriptovaluták</a:t>
            </a:r>
            <a:r>
              <a:rPr lang="hu-HU" dirty="0"/>
              <a:t> között. A tranzakciós felületen a vétel és eladás gombok azonnali vizuális visszajelzést adnak, a portfólió pedig valós időben mutatja az egyenleg változását.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8BB5B3-9749-486C-A43B-73D16959CA08}" type="slidenum">
              <a:rPr lang="hu-HU" smtClean="0"/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147055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frontend tesztelése során az volt a célunk, hogy a felhasználói felület minden interaktív eleme stabilan </a:t>
            </a:r>
            <a:r>
              <a:rPr lang="hu-HU" dirty="0" err="1"/>
              <a:t>működjön</a:t>
            </a:r>
            <a:r>
              <a:rPr lang="hu-HU" dirty="0"/>
              <a:t>. Ehhez a </a:t>
            </a:r>
            <a:r>
              <a:rPr lang="hu-HU" b="1" dirty="0"/>
              <a:t>Robot Framework</a:t>
            </a:r>
            <a:r>
              <a:rPr lang="hu-HU" dirty="0"/>
              <a:t> keretrendszert használtuk, </a:t>
            </a:r>
            <a:r>
              <a:rPr lang="hu-HU" b="1" dirty="0" err="1"/>
              <a:t>Selenium</a:t>
            </a:r>
            <a:r>
              <a:rPr lang="hu-HU" dirty="0"/>
              <a:t> könyvtárral kiegészítve, a teszteseteket pedig a </a:t>
            </a:r>
            <a:r>
              <a:rPr lang="hu-HU" b="1" dirty="0"/>
              <a:t>RIDE</a:t>
            </a:r>
            <a:r>
              <a:rPr lang="hu-HU" dirty="0"/>
              <a:t> grafikus felületén menedzseltük.</a:t>
            </a:r>
          </a:p>
          <a:p>
            <a:r>
              <a:rPr lang="hu-HU" dirty="0"/>
              <a:t>Az automatizált tesztjeink lefedték a teljes felhasználói utat a regisztrációtól kezdve a részvényvásárláson át a kijelentkezésig. A tesztek során a kritikus funkciók – mint például az egyenleg csökkenése vétel után – hibátlanul futottak le. Ugyanakkor azonosítottunk egy magas prioritású esztétikai hibát: az eladás, azaz a </a:t>
            </a:r>
            <a:r>
              <a:rPr lang="hu-HU" dirty="0" err="1"/>
              <a:t>short</a:t>
            </a:r>
            <a:r>
              <a:rPr lang="hu-HU" dirty="0"/>
              <a:t> pozíciók megnyitásakor a grafikus felületen az árfolyam kijelzése néha szétcsúszik. Ezt a hibajegyet rögzítettük, és a vizuális korrekció már folyamatban van.</a:t>
            </a:r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8BB5B3-9749-486C-A43B-73D16959CA08}" type="slidenum">
              <a:rPr lang="hu-HU" smtClean="0"/>
              <a:t>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955919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Ezen a dián a StockMaster technológiai hátterét, vagyis a projektünk 'motorháztető alatti' részét mutatjuk be. A szoftver fejlesztése során a klasszikus és megbízható webes technológiák kombinációját választottuk, hogy egy stabil, mégis gyors platformot kapjunk.</a:t>
            </a:r>
          </a:p>
          <a:p>
            <a:r>
              <a:rPr lang="hu-HU" dirty="0"/>
              <a:t>A </a:t>
            </a:r>
            <a:r>
              <a:rPr lang="hu-HU" b="1" dirty="0"/>
              <a:t>Backend</a:t>
            </a:r>
            <a:r>
              <a:rPr lang="hu-HU" dirty="0"/>
              <a:t>, tehát a szoftver agya, </a:t>
            </a:r>
            <a:r>
              <a:rPr lang="hu-HU" b="1" dirty="0"/>
              <a:t>PHP</a:t>
            </a:r>
            <a:r>
              <a:rPr lang="hu-HU" dirty="0"/>
              <a:t> nyelven készült. Ez a réteg felel a kritikus üzleti logikáért: itt futnak le a vétel-eladási algoritmusok, itt történik a fedezetellenőrzés, és ez a modul számolja ki a profitot vagy veszteséget minden zárás után.</a:t>
            </a:r>
          </a:p>
          <a:p>
            <a:r>
              <a:rPr lang="hu-HU" dirty="0"/>
              <a:t>Az adatok tárolására </a:t>
            </a:r>
            <a:r>
              <a:rPr lang="hu-HU" b="1" dirty="0" err="1"/>
              <a:t>MySQL</a:t>
            </a:r>
            <a:r>
              <a:rPr lang="hu-HU" dirty="0"/>
              <a:t> relációs adatbázist használunk. Ahogy az adatszerkezeti dokumentációnkban is látható, a rendszerünk normalizált táblákban tárolja a felhasználói profilokat, a kereskedési naplókat és a fejlődési statisztikákat. Ez az összeállítás garantálja, hogy a StockMaster egyszerre legyen biztonságos és villámgyors a lekérdezések során.</a:t>
            </a:r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8BB5B3-9749-486C-A43B-73D16959CA08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051439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backend tesztelés biztosítja, hogy az alkalmazás üzleti logikája, API végpontjai és adatkezelése hibamentesen működjenek.</a:t>
            </a:r>
            <a:br>
              <a:rPr lang="hu-HU" dirty="0"/>
            </a:br>
            <a:r>
              <a:rPr lang="hu-HU" dirty="0"/>
              <a:t>A képen egy automatizált tesztfuttatás látható, ahol különböző API funkciók kerülnek ellenőrzésre (pl. validációk, limit kezelések, hibakezelés).</a:t>
            </a:r>
          </a:p>
          <a:p>
            <a:r>
              <a:rPr lang="hu-HU" dirty="0"/>
              <a:t>A sikeres tesztek (PASS) azt jelzik, hogy a rendszer stabil, és a különböző </a:t>
            </a:r>
            <a:r>
              <a:rPr lang="hu-HU" dirty="0" err="1"/>
              <a:t>edge</a:t>
            </a:r>
            <a:r>
              <a:rPr lang="hu-HU" dirty="0"/>
              <a:t> </a:t>
            </a:r>
            <a:r>
              <a:rPr lang="hu-HU" dirty="0" err="1"/>
              <a:t>case-eket</a:t>
            </a:r>
            <a:r>
              <a:rPr lang="hu-HU" dirty="0"/>
              <a:t> is megfelelően kezeli. Az automatizált tesztelés kulcsfontosságú a megbízható és skálázható backend fejlesztéshez.</a:t>
            </a:r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8BB5B3-9749-486C-A43B-73D16959CA08}" type="slidenum">
              <a:rPr lang="hu-HU" smtClean="0"/>
              <a:t>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233905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Az alkalmazás különböző eszközökön – például mobilon, tableten és számítógépen – is megfelelően jelenik meg, használható marad és a felhasználói élmény minden platformon egységes és könnyen kezelhető marad.. A </a:t>
            </a:r>
            <a:r>
              <a:rPr lang="hu-HU" dirty="0" err="1"/>
              <a:t>Bootstrap</a:t>
            </a:r>
            <a:r>
              <a:rPr lang="hu-HU" dirty="0"/>
              <a:t> keretrendszert használjuk, amely beépített megoldásokat biztosít a reszponzív tervezéshez. Ilyen például a </a:t>
            </a:r>
            <a:r>
              <a:rPr lang="hu-HU" dirty="0" err="1"/>
              <a:t>grid</a:t>
            </a:r>
            <a:r>
              <a:rPr lang="hu-HU" dirty="0"/>
              <a:t> rendszer, amely lehetővé teszi, hogy az oldal elemei automatikusan átrendeződjenek a képernyő méretének megfelelően.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8BB5B3-9749-486C-A43B-73D16959CA08}" type="slidenum">
              <a:rPr lang="hu-HU" smtClean="0"/>
              <a:t>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317930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Az adatbázisunk normalizált és hierarchikus. A </a:t>
            </a:r>
            <a:r>
              <a:rPr lang="hu-HU" dirty="0" err="1"/>
              <a:t>Users</a:t>
            </a:r>
            <a:r>
              <a:rPr lang="hu-HU" dirty="0"/>
              <a:t> tábla az alap, ehhez kapcsolódnak a beállítások, a statisztikák és a kereskedési pozíciók. Az </a:t>
            </a:r>
            <a:r>
              <a:rPr lang="hu-HU" dirty="0" err="1"/>
              <a:t>Assets</a:t>
            </a:r>
            <a:r>
              <a:rPr lang="hu-HU" dirty="0"/>
              <a:t> tábla pedig egyfajta katalógusként működik a rendszerben elérhető eszközökhöz. A </a:t>
            </a:r>
            <a:r>
              <a:rPr lang="hu-HU" dirty="0" err="1"/>
              <a:t>UserStats</a:t>
            </a:r>
            <a:r>
              <a:rPr lang="hu-HU" dirty="0"/>
              <a:t> tábla különösen fontos: ez tárolja a </a:t>
            </a:r>
            <a:r>
              <a:rPr lang="hu-HU" dirty="0" err="1"/>
              <a:t>WinRate-et</a:t>
            </a:r>
            <a:r>
              <a:rPr lang="hu-HU" dirty="0"/>
              <a:t> és az átlagos profitot/veszteséget, ami a felhasználó fejlődésének kulcsa. Minden tranzakciót naplózunk a </a:t>
            </a:r>
            <a:r>
              <a:rPr lang="hu-HU" dirty="0" err="1"/>
              <a:t>TransactionsLog</a:t>
            </a:r>
            <a:r>
              <a:rPr lang="hu-HU" dirty="0"/>
              <a:t>-ban, így minden fillér visszakövethető.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8BB5B3-9749-486C-A43B-73D16959CA08}" type="slidenum">
              <a:rPr lang="hu-HU" smtClean="0"/>
              <a:t>10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388367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Miben más, mint a többi? A legtöbb </a:t>
            </a:r>
            <a:r>
              <a:rPr lang="hu-HU" dirty="0" err="1"/>
              <a:t>platformrögtön</a:t>
            </a:r>
            <a:r>
              <a:rPr lang="hu-HU" dirty="0"/>
              <a:t> mélyvízbe dob a grafikonokkal, ahol a kezdő felhasználó csak találgat. A StockMaster ezzel szemben egy zárt ökoszisztémát alkot.</a:t>
            </a:r>
          </a:p>
          <a:p>
            <a:r>
              <a:rPr lang="hu-HU" b="1" dirty="0"/>
              <a:t>Először is</a:t>
            </a:r>
            <a:r>
              <a:rPr lang="hu-HU" dirty="0"/>
              <a:t>, nálunk az oktatóanyagok (</a:t>
            </a:r>
            <a:r>
              <a:rPr lang="hu-HU" dirty="0" err="1"/>
              <a:t>Tutorials</a:t>
            </a:r>
            <a:r>
              <a:rPr lang="hu-HU" dirty="0"/>
              <a:t>) közvetlenül össze vannak kötve a gyakorlattal. A felhasználó elolvassa a stratégiát, és egy kattintással már tesztelheti is a szimulátorban. </a:t>
            </a:r>
            <a:r>
              <a:rPr lang="hu-HU" b="1" dirty="0"/>
              <a:t>Másodszor</a:t>
            </a:r>
            <a:r>
              <a:rPr lang="hu-HU" dirty="0"/>
              <a:t>, a programunk kiemelkedik az analitika terén. Míg más szoftvereknél neked kell vezetned a kereskedési naplót, a mi backendünk minden zárás után azonnal </a:t>
            </a:r>
            <a:r>
              <a:rPr lang="hu-HU" dirty="0" err="1"/>
              <a:t>újraszámolja</a:t>
            </a:r>
            <a:r>
              <a:rPr lang="hu-HU" dirty="0"/>
              <a:t> a statisztikákat. Pontosan látod a győzelmi arányodat (</a:t>
            </a:r>
            <a:r>
              <a:rPr lang="hu-HU" dirty="0" err="1"/>
              <a:t>WinRate</a:t>
            </a:r>
            <a:r>
              <a:rPr lang="hu-HU" dirty="0"/>
              <a:t>) és azt, hogy melyik eszközzel vagy a leghatékonyabb. Ezt a </a:t>
            </a:r>
            <a:r>
              <a:rPr lang="hu-HU" dirty="0" err="1"/>
              <a:t>UserStats</a:t>
            </a:r>
            <a:r>
              <a:rPr lang="hu-HU" dirty="0"/>
              <a:t> táblánk automatizáltan végzi.</a:t>
            </a:r>
          </a:p>
          <a:p>
            <a:r>
              <a:rPr lang="hu-HU" b="1" dirty="0"/>
              <a:t>Harmadszor</a:t>
            </a:r>
            <a:r>
              <a:rPr lang="hu-HU" dirty="0"/>
              <a:t>, a stabilitás. A projekt során nem csak összedobtuk a kódot, hanem a Robot Framework és </a:t>
            </a:r>
            <a:r>
              <a:rPr lang="hu-HU" dirty="0" err="1"/>
              <a:t>Selenium</a:t>
            </a:r>
            <a:r>
              <a:rPr lang="hu-HU" dirty="0"/>
              <a:t> segítségével ipari sztenderdek szerint teszteltük a frontendet, biztosítva a hibátlan felhasználói utat.</a:t>
            </a:r>
          </a:p>
          <a:p>
            <a:endParaRPr lang="hu-HU" dirty="0"/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8BB5B3-9749-486C-A43B-73D16959CA08}" type="slidenum">
              <a:rPr lang="hu-HU" smtClean="0"/>
              <a:t>12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137839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Zárásként szeretnénk beszélni arról, hogy merre tovább. </a:t>
            </a:r>
            <a:r>
              <a:rPr lang="hu-HU" b="1" dirty="0"/>
              <a:t>Az első és legfontosabb lépés a mobilalkalmazás fejlesztése.</a:t>
            </a:r>
            <a:r>
              <a:rPr lang="hu-HU" dirty="0"/>
              <a:t> Látjuk, hogy a modern befektetők útközben is szeretnék figyelni a piacaikat, így az iOS és Android verzió kiemelt prioritás nálunk. Ezzel párhuzamosan befejezzük a felhasználói élmény finomítását, beleértve a sötét mód teljeskörű implementálását, amit a tesztelési fázisban már elkezdtünk.</a:t>
            </a:r>
          </a:p>
          <a:p>
            <a:r>
              <a:rPr lang="hu-HU" b="1" dirty="0"/>
              <a:t>A legnagyobb mérföldkő azonban a valós pénzes kereskedés bevezetése lesz.</a:t>
            </a:r>
            <a:r>
              <a:rPr lang="hu-HU" dirty="0"/>
              <a:t> Szeretnénk, ha a nálunk felkészült és sikeresen vizsgázott felhasználók ugyanazon a felületen, de már valódi tőkével is kamatoztathatnák a tudásukat. Ehhez brókeri kapcsolatok kiépítését és még szigorúbb biztonsági protokollokat tervezünk.</a:t>
            </a:r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8BB5B3-9749-486C-A43B-73D16959CA08}" type="slidenum">
              <a:rPr lang="hu-HU" smtClean="0"/>
              <a:t>13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61884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FCC7FB5-9B98-45E2-B3F4-9C2436A633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781CBA97-D8FE-4283-9B00-B30259A1BC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820009E-A8E3-4E74-BD5F-C3FD291F8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9038-47AD-43A3-BBBF-D66692911134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F947243-A9A4-4036-85AA-C3B97D474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29660C9-E1E4-48C5-B616-C0215FF27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D906-E858-4A03-8FDE-C112817973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76443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844E742-B688-46FB-A0AD-94B97F281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3F64846-2310-49F3-B4D6-C5799C83A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4EAEB7D-4764-42D7-9A05-E60731516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9038-47AD-43A3-BBBF-D66692911134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49CF564-2B3B-4A5B-B091-F019AEDFB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79E1A4D-FD89-4633-878B-53A236BDA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D906-E858-4A03-8FDE-C112817973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67848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9A2F86C-E4A5-4BD6-A405-38114A0F0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46CD97CA-734F-4C64-886D-6AC87FAEE5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845653B-F4DB-4CC1-AC8D-21A9B11C0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9038-47AD-43A3-BBBF-D66692911134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93F2C42-4732-488B-BECB-BE80272CB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7412473-AE36-4FFF-B2ED-5798D7A5D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D906-E858-4A03-8FDE-C112817973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29424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3C189AC-4506-4E49-AB36-94D5EEB99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ABAAFA5-4C01-4741-A182-A904CE91A8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88C96DAC-ACEE-43E3-8567-05A0C54276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BA925622-DDFE-4439-9A45-2347FE4C1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9038-47AD-43A3-BBBF-D66692911134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19D509D1-D2C9-4FF0-B302-38D1DDF1C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B95B37C3-03DB-4096-940C-0FB71B4A9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D906-E858-4A03-8FDE-C112817973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20301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CEE4623-390B-45B6-8D6E-AA71272B0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D8EC7E5-A432-4744-B8A4-17A140AFDB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2712B930-6EC3-44E1-8737-4CD8B0E8CC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21F16472-0893-4783-BAB3-98DAAA7FEE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F8D7A166-6B95-465F-B7FA-87A8B2AB35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76308036-43A3-4E41-8B6E-5E9627C84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9038-47AD-43A3-BBBF-D66692911134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CF0E76BE-E3D9-4C5F-8D4E-42CB68444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9D44421E-FD7A-4E7D-B5A0-13F90DD8D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D906-E858-4A03-8FDE-C112817973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86676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5407361-AE63-4641-B59D-022F7C9D5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C1B0055E-064F-4B5F-BCD9-99F8348CF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9038-47AD-43A3-BBBF-D66692911134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5276A903-0A74-4B28-AD74-4EF3BD5B0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9183ABC5-EAE3-4540-9BBF-9069F0C3F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D906-E858-4A03-8FDE-C112817973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40950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D434491F-937A-4687-A716-0C657F268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9038-47AD-43A3-BBBF-D66692911134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4946324E-3500-4A7B-AA3D-5B0799BB6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8CFDE7D-E5EB-48F3-9676-22EF0F968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D906-E858-4A03-8FDE-C112817973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78866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EA8DD00-95F9-4F17-938D-81D23C1B2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E5F52B8-37EA-4C4A-9489-B9FDC1DE5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D4DB2C4B-74DA-4681-90E2-E0E7726AEA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818CE8A-847B-4C41-9FE2-8E5A98BF9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9038-47AD-43A3-BBBF-D66692911134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040C2240-C39C-436C-9D67-9BDCBF280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E4F97318-A2A3-4BDE-B2BD-D6FD21473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D906-E858-4A03-8FDE-C112817973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85680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A252304-B890-48E3-AFFA-2804BE8AA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46E35608-1CC1-4C1E-9D84-AB180B08E4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16C8A424-9CC6-4153-8952-3CDFE8AC98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0490A039-91F6-4F02-B5C3-B78756BDF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9038-47AD-43A3-BBBF-D66692911134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13BF87A3-ABFC-4A51-9C82-21346F9A6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7DB2862-FAC7-44B7-B4C6-35109A254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D906-E858-4A03-8FDE-C112817973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45151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CE8D9C3-DA74-4C29-982E-4E5F1E31F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ABE05694-6837-4E84-B632-308E4F74BF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91556FE-19A4-46FE-AA82-0E7EBBA7C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9038-47AD-43A3-BBBF-D66692911134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2079FF9-F2C4-41AD-9C6B-8F7688CA7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81640EC-2340-4D9D-871C-AC72CECBE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D906-E858-4A03-8FDE-C112817973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97812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FAAB6ECE-79A0-418D-BED2-61F767B08F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492EEF84-5A62-4707-A6DD-57AC4BC330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C4B63DB-7EEB-4C0E-AC3D-E11382DA6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9038-47AD-43A3-BBBF-D66692911134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6150092-21C9-410B-8584-B1589D193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EE0207E-0821-4C04-81F3-4F136FEEA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AD906-E858-4A03-8FDE-C112817973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23579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ECF9351C-ED99-4EB9-9830-65D578007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B3B83A7-EF3B-4459-9A62-857BBAC89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2A69A3A-8414-4DC1-81D7-E9B3C85013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F9038-47AD-43A3-BBBF-D66692911134}" type="datetimeFigureOut">
              <a:rPr lang="hu-HU" smtClean="0"/>
              <a:t>2026. 04. 17.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B1F0A18-4E21-4A7A-8798-4CBAC7275C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525174E-4236-4533-BE35-7B646A803A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4AD906-E858-4A03-8FDE-C1128179733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74774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2.jpe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mailto:zsigo.robert.jozsef@diak.szbi-pg.hu" TargetMode="External"/><Relationship Id="rId4" Type="http://schemas.openxmlformats.org/officeDocument/2006/relationships/hyperlink" Target="mailto:Csaki.balazs@diak.szbi-pg.hu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hyperlink" Target="https://ipv4.google.com/intl/hu/drive/download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facebook.com/messenger/?locale=hu_HU" TargetMode="External"/><Relationship Id="rId5" Type="http://schemas.openxmlformats.org/officeDocument/2006/relationships/hyperlink" Target="https://www.facebook.com/GitHub/" TargetMode="External"/><Relationship Id="rId4" Type="http://schemas.openxmlformats.org/officeDocument/2006/relationships/hyperlink" Target="https://pixabay.com/hu/images/download/3844328-stock-1863880_1920.jp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ép 6">
            <a:extLst>
              <a:ext uri="{FF2B5EF4-FFF2-40B4-BE49-F238E27FC236}">
                <a16:creationId xmlns:a16="http://schemas.microsoft.com/office/drawing/2014/main" id="{A62C8F4F-E02C-4357-9CF1-E8FFF618CF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9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76"/>
            <a:ext cx="12192000" cy="6864376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96000"/>
              </a:srgbClr>
            </a:outerShdw>
          </a:effectLst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6D6207E5-11B7-4945-B609-B13E108D10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5011" y="304592"/>
            <a:ext cx="8803341" cy="2037217"/>
          </a:xfrm>
        </p:spPr>
        <p:txBody>
          <a:bodyPr/>
          <a:lstStyle/>
          <a:p>
            <a:r>
              <a:rPr lang="hu-HU" b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PénzKút</a:t>
            </a:r>
            <a:r>
              <a:rPr lang="hu-HU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-Tőzsdei platform</a:t>
            </a:r>
            <a:endParaRPr lang="hu-H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F0E1C9D-553A-4DE5-BE9E-1183B96945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41809"/>
            <a:ext cx="9144000" cy="494832"/>
          </a:xfrm>
        </p:spPr>
        <p:txBody>
          <a:bodyPr/>
          <a:lstStyle/>
          <a:p>
            <a:r>
              <a:rPr lang="hu-HU" b="1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Invest</a:t>
            </a:r>
            <a:r>
              <a:rPr lang="hu-HU" b="1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hu-HU" b="1" i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Skill</a:t>
            </a:r>
            <a:endParaRPr lang="hu-HU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370C7246-B265-4061-9F5E-660995C7983B}"/>
              </a:ext>
            </a:extLst>
          </p:cNvPr>
          <p:cNvSpPr txBox="1"/>
          <p:nvPr/>
        </p:nvSpPr>
        <p:spPr>
          <a:xfrm>
            <a:off x="5776167" y="4349425"/>
            <a:ext cx="1044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Készítők: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9334BAC2-4FA1-415F-8C03-674269CFCE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4723" y="1791665"/>
            <a:ext cx="1766553" cy="2616743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BBFDB473-7389-4BDD-8FF4-17D43F7474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447" y="1791665"/>
            <a:ext cx="1766553" cy="2616743"/>
          </a:xfrm>
          <a:prstGeom prst="rect">
            <a:avLst/>
          </a:prstGeom>
        </p:spPr>
      </p:pic>
      <p:sp>
        <p:nvSpPr>
          <p:cNvPr id="11" name="Szövegdoboz 10">
            <a:extLst>
              <a:ext uri="{FF2B5EF4-FFF2-40B4-BE49-F238E27FC236}">
                <a16:creationId xmlns:a16="http://schemas.microsoft.com/office/drawing/2014/main" id="{B353ED62-C537-4F88-A943-113BB8ACB2EE}"/>
              </a:ext>
            </a:extLst>
          </p:cNvPr>
          <p:cNvSpPr txBox="1"/>
          <p:nvPr/>
        </p:nvSpPr>
        <p:spPr>
          <a:xfrm>
            <a:off x="1365810" y="4408408"/>
            <a:ext cx="1287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Csáki Balázs</a:t>
            </a: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97DBFB24-75DB-44A0-AB4B-FF40CF25AC0F}"/>
              </a:ext>
            </a:extLst>
          </p:cNvPr>
          <p:cNvSpPr txBox="1"/>
          <p:nvPr/>
        </p:nvSpPr>
        <p:spPr>
          <a:xfrm>
            <a:off x="9784723" y="4408408"/>
            <a:ext cx="1842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Zsígó Róbert József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0352CF13-1393-4127-8BCF-CC0A4F660B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7802" y="3028832"/>
            <a:ext cx="1278724" cy="127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173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Kép 8">
            <a:extLst>
              <a:ext uri="{FF2B5EF4-FFF2-40B4-BE49-F238E27FC236}">
                <a16:creationId xmlns:a16="http://schemas.microsoft.com/office/drawing/2014/main" id="{85B215E5-EBFE-4732-9C3A-E90EEEDF43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9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76"/>
            <a:ext cx="12192000" cy="6864376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96000"/>
              </a:srgbClr>
            </a:outerShdw>
          </a:effectLst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1DB3A2EC-3FF1-45FD-9E7F-AD4C29C19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856" y="27989"/>
            <a:ext cx="12191999" cy="1485900"/>
          </a:xfrm>
        </p:spPr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Projektleírás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17C6D83-3EED-46B1-B268-15692DF84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855" y="1513889"/>
            <a:ext cx="8114297" cy="4251910"/>
          </a:xfrm>
        </p:spPr>
        <p:txBody>
          <a:bodyPr/>
          <a:lstStyle/>
          <a:p>
            <a:pPr algn="l"/>
            <a:r>
              <a:rPr lang="hu-HU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Online tőzsdei platform valós idejű árakkal</a:t>
            </a:r>
          </a:p>
          <a:p>
            <a:pPr algn="l"/>
            <a:r>
              <a:rPr lang="hu-HU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Felhasználóbarát oktató alkalmazás kezdőknek. </a:t>
            </a:r>
          </a:p>
          <a:p>
            <a:pPr algn="l"/>
            <a:r>
              <a:rPr lang="hu-HU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Interaktív tanulási környezet: elmélet és gyakorlat együtt.</a:t>
            </a:r>
          </a:p>
          <a:p>
            <a:pPr algn="l"/>
            <a:r>
              <a:rPr lang="hu-HU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Egy kockázatmentes „</a:t>
            </a:r>
            <a:r>
              <a:rPr lang="hu-HU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  <a:r>
              <a:rPr lang="hu-HU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” környezet, ahol elméleti tudás (</a:t>
            </a:r>
            <a:r>
              <a:rPr lang="hu-HU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tutorialok</a:t>
            </a:r>
            <a:r>
              <a:rPr lang="hu-HU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és gyakorlati szimuláció találkozik. </a:t>
            </a:r>
          </a:p>
          <a:p>
            <a:endParaRPr lang="hu-HU" dirty="0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4304A860-2262-4D67-97A4-6EDD87902B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67082"/>
            <a:ext cx="1062990" cy="106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625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ép 7">
            <a:extLst>
              <a:ext uri="{FF2B5EF4-FFF2-40B4-BE49-F238E27FC236}">
                <a16:creationId xmlns:a16="http://schemas.microsoft.com/office/drawing/2014/main" id="{9C9D004A-8A43-4A54-AFEC-FFBAA6A2A4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9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76"/>
            <a:ext cx="12192000" cy="6864376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96000"/>
              </a:srgbClr>
            </a:outerShdw>
          </a:effectLst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B0CC253A-6FB0-432F-8A80-F7D10E0D4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Célfelhasználók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D5B99B1-1770-4900-B64F-C7300B2AF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hu-HU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Virtuális környezetben k</a:t>
            </a: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hu-HU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ckázatmentesen gyakorolni akaró kezdők</a:t>
            </a:r>
          </a:p>
          <a:p>
            <a:pPr algn="l"/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nem túl magabiztos, nem sok tapasztalattal rendelkező kezdő kereskedők</a:t>
            </a:r>
          </a:p>
          <a:p>
            <a:pPr algn="l"/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tapasztalt haladó illetve profi kereskedők egyaránt</a:t>
            </a:r>
            <a:endParaRPr lang="hu-HU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7B0806AF-0EA9-41DE-931F-907C547569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62479"/>
            <a:ext cx="1062990" cy="106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496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ép 7">
            <a:extLst>
              <a:ext uri="{FF2B5EF4-FFF2-40B4-BE49-F238E27FC236}">
                <a16:creationId xmlns:a16="http://schemas.microsoft.com/office/drawing/2014/main" id="{ED7D5C16-1A07-4F8E-BFF3-7F141B80C7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9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76"/>
            <a:ext cx="12192000" cy="6864376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96000"/>
              </a:srgbClr>
            </a:outerShdw>
          </a:effectLst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0D78A363-20F9-4484-BBF9-214B2558D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7128688-7208-469E-B64E-4ECF1A6E3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Frontend-Vue.js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HTML5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CSS3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</a:p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Backend-</a:t>
            </a:r>
            <a:r>
              <a:rPr lang="hu-H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Laravel</a:t>
            </a:r>
            <a:endParaRPr lang="hu-H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hu-H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endParaRPr lang="hu-H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6D3064C9-FF0F-4AEB-9707-263D2D11F9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60998"/>
            <a:ext cx="1062990" cy="106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565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ép 6">
            <a:extLst>
              <a:ext uri="{FF2B5EF4-FFF2-40B4-BE49-F238E27FC236}">
                <a16:creationId xmlns:a16="http://schemas.microsoft.com/office/drawing/2014/main" id="{D2D32886-EAC9-4C84-AAE5-96C682C556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9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76"/>
            <a:ext cx="12192000" cy="6864376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96000"/>
              </a:srgbClr>
            </a:outerShdw>
          </a:effectLst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BC670AF5-A981-4FCD-B368-58B8B465D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35CACE6-CDD9-4751-989A-19AC98EE0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Technológiai alapok: HTML5, CSS3, JavaScript.</a:t>
            </a:r>
          </a:p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Modern UI/UX:</a:t>
            </a:r>
          </a:p>
          <a:p>
            <a:pPr lvl="1"/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Letisztult, reszponzív elrendezés.</a:t>
            </a:r>
          </a:p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Valós idejű visszajelzés:</a:t>
            </a:r>
          </a:p>
          <a:p>
            <a:pPr lvl="1"/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Dinamikus egyenlegfrissítés és portfólió-nézet.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4942890F-084C-49DE-8F2A-D0EF67345C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62479"/>
            <a:ext cx="1062990" cy="106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9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Kép 10">
            <a:extLst>
              <a:ext uri="{FF2B5EF4-FFF2-40B4-BE49-F238E27FC236}">
                <a16:creationId xmlns:a16="http://schemas.microsoft.com/office/drawing/2014/main" id="{62796449-7C2A-441F-9F01-CC1652AE85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9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76"/>
            <a:ext cx="12192000" cy="6864376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96000"/>
              </a:srgbClr>
            </a:outerShdw>
          </a:effectLst>
        </p:spPr>
      </p:pic>
      <p:sp>
        <p:nvSpPr>
          <p:cNvPr id="5" name="Cím 4">
            <a:extLst>
              <a:ext uri="{FF2B5EF4-FFF2-40B4-BE49-F238E27FC236}">
                <a16:creationId xmlns:a16="http://schemas.microsoft.com/office/drawing/2014/main" id="{854DA53C-BA5F-4190-8443-2E8F0A210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Frontend-Tesztelés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4EC9F170-742E-4283-982F-8FA8307E3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41168" cy="4351338"/>
          </a:xfrm>
        </p:spPr>
        <p:txBody>
          <a:bodyPr/>
          <a:lstStyle/>
          <a:p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Sikeres tesztek:</a:t>
            </a:r>
          </a:p>
          <a:p>
            <a:pPr lvl="1"/>
            <a:r>
              <a:rPr lang="hu-H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Belépés, regisztráció, vétel, tranzakciók, kijelentkezés, gombok és funkciói</a:t>
            </a:r>
          </a:p>
          <a:p>
            <a:r>
              <a:rPr lang="hu-H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Magas prioritású tesztesetek a biztonságos működésért</a:t>
            </a:r>
          </a:p>
          <a:p>
            <a:endParaRPr lang="hu-HU" dirty="0"/>
          </a:p>
        </p:txBody>
      </p:sp>
      <p:pic>
        <p:nvPicPr>
          <p:cNvPr id="1030" name="Picture 6" descr="Robot Framework - Wikipedia">
            <a:extLst>
              <a:ext uri="{FF2B5EF4-FFF2-40B4-BE49-F238E27FC236}">
                <a16:creationId xmlns:a16="http://schemas.microsoft.com/office/drawing/2014/main" id="{5187D23B-744E-4B90-8D94-D4E09A6FEA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4894" y="3887775"/>
            <a:ext cx="1589822" cy="1589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elenium Automation Testing Services Company India, Singapore, Hong Kong,  Canada – ANGLER Technologies">
            <a:extLst>
              <a:ext uri="{FF2B5EF4-FFF2-40B4-BE49-F238E27FC236}">
                <a16:creationId xmlns:a16="http://schemas.microsoft.com/office/drawing/2014/main" id="{821A2D7D-F81E-4584-8CB0-0112B78282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2178" y="5415261"/>
            <a:ext cx="1589822" cy="1441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drawing">
            <a:extLst>
              <a:ext uri="{FF2B5EF4-FFF2-40B4-BE49-F238E27FC236}">
                <a16:creationId xmlns:a16="http://schemas.microsoft.com/office/drawing/2014/main" id="{0FE7203E-6743-43E8-8060-3839CBE08552}"/>
              </a:ext>
            </a:extLst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14520" y="3886474"/>
            <a:ext cx="4686300" cy="2970225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8782C978-1A67-4509-8C97-E2E17C6E1F9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62479"/>
            <a:ext cx="1062990" cy="106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299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Kép 9">
            <a:extLst>
              <a:ext uri="{FF2B5EF4-FFF2-40B4-BE49-F238E27FC236}">
                <a16:creationId xmlns:a16="http://schemas.microsoft.com/office/drawing/2014/main" id="{06CB5813-F364-4913-817B-3567E74767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9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76"/>
            <a:ext cx="12192000" cy="6864376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96000"/>
              </a:srgbClr>
            </a:outerShdw>
          </a:effectLst>
        </p:spPr>
      </p:pic>
      <p:sp>
        <p:nvSpPr>
          <p:cNvPr id="4" name="Cím 3">
            <a:extLst>
              <a:ext uri="{FF2B5EF4-FFF2-40B4-BE49-F238E27FC236}">
                <a16:creationId xmlns:a16="http://schemas.microsoft.com/office/drawing/2014/main" id="{EDDBBB32-03CC-4D3E-81C0-9D4F92305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C596495D-736B-46DF-9256-99B5FE7DC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Szerveroldali logika, tranzakciókezelés és algoritmusok futtatása.</a:t>
            </a:r>
          </a:p>
          <a:p>
            <a:r>
              <a:rPr lang="hu-HU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Relációs adatbázis a felhasználók, pozíciók és statisztikák biztonságos tárolására.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732E3E15-C9A8-4977-AB4E-869BCCCF16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62479"/>
            <a:ext cx="1062990" cy="106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65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ép 7">
            <a:extLst>
              <a:ext uri="{FF2B5EF4-FFF2-40B4-BE49-F238E27FC236}">
                <a16:creationId xmlns:a16="http://schemas.microsoft.com/office/drawing/2014/main" id="{B0ACBEFB-21AA-4BE8-A11A-DC80E86E6B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9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76"/>
            <a:ext cx="12192000" cy="6864376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96000"/>
              </a:srgbClr>
            </a:outerShdw>
          </a:effectLst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66C7BBF2-3BAE-4485-A30E-E3D573859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Backend-Tesztelés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7E8E98B-FF77-45AF-B726-8E6D315B4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Automatizált API tesztek futtatása (</a:t>
            </a:r>
            <a:r>
              <a:rPr lang="hu-H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Laravel</a:t>
            </a: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Artisan</a:t>
            </a: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Minden </a:t>
            </a:r>
            <a:r>
              <a:rPr lang="hu-H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endpoint</a:t>
            </a: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külön </a:t>
            </a:r>
            <a:r>
              <a:rPr lang="hu-H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validálva</a:t>
            </a:r>
            <a:endParaRPr lang="hu-H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Hibakezelés és </a:t>
            </a:r>
            <a:r>
              <a:rPr lang="hu-H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rate</a:t>
            </a: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limit is tesztelve</a:t>
            </a:r>
          </a:p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 teszt, 129 ellenőrzés → minden sikeres</a:t>
            </a:r>
          </a:p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Gyors visszajelzés fejlesztés közben</a:t>
            </a:r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DE7ED009-EA02-43F7-968A-5BA416DD89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2728" y="3528933"/>
            <a:ext cx="3711389" cy="2806343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85A6E666-2FA9-4CFB-A27E-5A169040E9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74167"/>
            <a:ext cx="1062990" cy="106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90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4398B1F8-D5FC-4ED9-B953-F4063FBB71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9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76"/>
            <a:ext cx="12192000" cy="6864376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96000"/>
              </a:srgbClr>
            </a:outerShdw>
          </a:effectLst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4BFBBD52-0111-435C-8EB6-330B2C32A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Reszponzivitás</a:t>
            </a:r>
            <a:endParaRPr lang="hu-H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639ED68-E103-44AF-8DE0-88D129750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Bootstrap</a:t>
            </a: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grid</a:t>
            </a:r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rendszer alkalmazása</a:t>
            </a:r>
          </a:p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Dinamikusan alkalmazkodó felhasználói felület</a:t>
            </a:r>
          </a:p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Grafikonok és elemek méretezése képernyőhöz igazítva</a:t>
            </a:r>
          </a:p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Egységes és kényelmes felhasználói élmény minden platformon</a:t>
            </a:r>
          </a:p>
        </p:txBody>
      </p:sp>
    </p:spTree>
    <p:extLst>
      <p:ext uri="{BB962C8B-B14F-4D97-AF65-F5344CB8AC3E}">
        <p14:creationId xmlns:p14="http://schemas.microsoft.com/office/powerpoint/2010/main" val="1073263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ép 6">
            <a:extLst>
              <a:ext uri="{FF2B5EF4-FFF2-40B4-BE49-F238E27FC236}">
                <a16:creationId xmlns:a16="http://schemas.microsoft.com/office/drawing/2014/main" id="{055F957F-7EA2-44F3-8485-C0E559C669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9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76"/>
            <a:ext cx="12192000" cy="6864376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96000"/>
              </a:srgbClr>
            </a:outerShdw>
          </a:effectLst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91B49CDF-7F46-448E-BC2A-42B5B8282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Adatszerkezet és Adatbázis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55D6986-5082-4874-85AB-732D6A2E2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hu-HU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Felhasználói adatok: </a:t>
            </a:r>
            <a:r>
              <a:rPr lang="hu-HU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  <a:r>
              <a:rPr lang="hu-HU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hu-HU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Settings</a:t>
            </a:r>
            <a:r>
              <a:rPr lang="hu-HU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hu-HU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Stats</a:t>
            </a:r>
            <a:r>
              <a:rPr lang="hu-HU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l"/>
            <a:r>
              <a:rPr lang="hu-HU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Piaci adatok: </a:t>
            </a:r>
            <a:r>
              <a:rPr lang="hu-HU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Assets</a:t>
            </a:r>
            <a:r>
              <a:rPr lang="hu-HU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(részvények), PriceData (történeti árak). </a:t>
            </a:r>
          </a:p>
          <a:p>
            <a:pPr algn="l"/>
            <a:r>
              <a:rPr lang="hu-HU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Tranzakciók: </a:t>
            </a:r>
            <a:r>
              <a:rPr lang="hu-HU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Positions</a:t>
            </a:r>
            <a:r>
              <a:rPr lang="hu-HU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(nyitott/zárt pozíciók), </a:t>
            </a:r>
            <a:r>
              <a:rPr lang="hu-HU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TransactionsLog</a:t>
            </a:r>
            <a:r>
              <a:rPr lang="hu-HU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l"/>
            <a:r>
              <a:rPr lang="hu-HU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Normalizált adatbázis</a:t>
            </a:r>
          </a:p>
          <a:p>
            <a:pPr marL="0" indent="0">
              <a:buNone/>
            </a:pPr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9C65B311-E42F-45EC-AE4E-EA96C8A809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62479"/>
            <a:ext cx="1062990" cy="106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216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Kép 11">
            <a:extLst>
              <a:ext uri="{FF2B5EF4-FFF2-40B4-BE49-F238E27FC236}">
                <a16:creationId xmlns:a16="http://schemas.microsoft.com/office/drawing/2014/main" id="{63BFFBBC-B63C-4908-AB1B-A2A8832AD6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9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76"/>
            <a:ext cx="12192000" cy="6864376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96000"/>
              </a:srgbClr>
            </a:outerShdw>
          </a:effectLst>
        </p:spPr>
      </p:pic>
      <p:sp>
        <p:nvSpPr>
          <p:cNvPr id="7" name="Cím 6">
            <a:extLst>
              <a:ext uri="{FF2B5EF4-FFF2-40B4-BE49-F238E27FC236}">
                <a16:creationId xmlns:a16="http://schemas.microsoft.com/office/drawing/2014/main" id="{6D732CAD-ACD9-4D47-B378-2E1BECA11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Csapatmunka</a:t>
            </a:r>
          </a:p>
        </p:txBody>
      </p:sp>
      <p:sp>
        <p:nvSpPr>
          <p:cNvPr id="8" name="Tartalom helye 7">
            <a:extLst>
              <a:ext uri="{FF2B5EF4-FFF2-40B4-BE49-F238E27FC236}">
                <a16:creationId xmlns:a16="http://schemas.microsoft.com/office/drawing/2014/main" id="{6016BF16-FC6A-4835-B6F2-1A13A2884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</a:p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Drive</a:t>
            </a:r>
          </a:p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Messenger</a:t>
            </a:r>
          </a:p>
          <a:p>
            <a:endParaRPr lang="hu-HU" dirty="0"/>
          </a:p>
        </p:txBody>
      </p:sp>
      <p:pic>
        <p:nvPicPr>
          <p:cNvPr id="2050" name="Picture 2" descr="With GitHub - PyXAI documentation">
            <a:extLst>
              <a:ext uri="{FF2B5EF4-FFF2-40B4-BE49-F238E27FC236}">
                <a16:creationId xmlns:a16="http://schemas.microsoft.com/office/drawing/2014/main" id="{C91D4B1C-28D8-4B24-9C45-7AF0768E9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388" y="1355579"/>
            <a:ext cx="1708552" cy="1027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Google Drive - Wikipedia">
            <a:extLst>
              <a:ext uri="{FF2B5EF4-FFF2-40B4-BE49-F238E27FC236}">
                <a16:creationId xmlns:a16="http://schemas.microsoft.com/office/drawing/2014/main" id="{C093FB46-E22D-403B-8679-CDC38DFDB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7362" y="2383572"/>
            <a:ext cx="1349378" cy="1207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4518CB52-3E47-4504-895F-F1150B106F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740" y="2383571"/>
            <a:ext cx="1207039" cy="1207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7850ECC6-4486-43E1-BD02-B9F83EEE96F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62479"/>
            <a:ext cx="1062990" cy="106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96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ép 7">
            <a:extLst>
              <a:ext uri="{FF2B5EF4-FFF2-40B4-BE49-F238E27FC236}">
                <a16:creationId xmlns:a16="http://schemas.microsoft.com/office/drawing/2014/main" id="{07094501-D64E-49B4-86F1-E8C86104B1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9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76"/>
            <a:ext cx="12192000" cy="6864376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96000"/>
              </a:srgbClr>
            </a:outerShdw>
          </a:effectLst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8927A1CC-B626-4FD7-B5EA-AC6C07E39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Miért jobb a StockMaster?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E63D8CE-BC1C-4416-BCBB-04C7AEC9E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Összetett oktatás: Nem csak grafikon, hanem tananyag is. </a:t>
            </a:r>
          </a:p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Kockázatmentes Realizmus: Valós piaci adatok és gyertya-diagramok használata virtuális tőkével. </a:t>
            </a:r>
          </a:p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Személyre szabhatóság: Felhasználói igényekre szabható felület és értesítési rendszer.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C54EE724-2327-4BEE-A3E8-3BEC2724AE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62479"/>
            <a:ext cx="1062990" cy="106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350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Kép 8">
            <a:extLst>
              <a:ext uri="{FF2B5EF4-FFF2-40B4-BE49-F238E27FC236}">
                <a16:creationId xmlns:a16="http://schemas.microsoft.com/office/drawing/2014/main" id="{46696402-3788-46AF-B1CA-8536C215AA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9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76"/>
            <a:ext cx="12192000" cy="6864376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96000"/>
              </a:srgbClr>
            </a:outerShdw>
          </a:effectLst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E4440782-A7ED-4345-8A29-4337A7F82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Jövőbeli fejlesztések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550714E-464D-4685-89EA-4ECECDF35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Mobilalkalmazás (iOS/Android): Kereskedés és tanulás bárhol, bármikor.</a:t>
            </a:r>
          </a:p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Éles számla integráció: Átlépés a demó környezetből a valós tőzsdére.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173FDB07-34F9-4D56-98DA-3B942123A7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53977"/>
            <a:ext cx="1062990" cy="106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33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ép 6">
            <a:extLst>
              <a:ext uri="{FF2B5EF4-FFF2-40B4-BE49-F238E27FC236}">
                <a16:creationId xmlns:a16="http://schemas.microsoft.com/office/drawing/2014/main" id="{30D6A876-2FC8-4D95-BC56-4994D649C4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9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76"/>
            <a:ext cx="12192000" cy="6864376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96000"/>
              </a:srgbClr>
            </a:outerShdw>
          </a:effectLst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50B80A2A-44D2-480A-921D-4894D1258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Köszönjük a Figyelmet!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289258B-52B6-4102-BAB4-745EA1B40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Elérhetőségek:</a:t>
            </a:r>
          </a:p>
          <a:p>
            <a:pPr lvl="1"/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csaki.balazs@diak.szbi-pg.hu</a:t>
            </a:r>
            <a:endParaRPr lang="hu-H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zsigo.robert.jozsef@diak.szbi-pg.hu</a:t>
            </a:r>
            <a:endParaRPr lang="hu-H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3477EC48-453F-4B1F-B9C8-3CBEF1DF60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62479"/>
            <a:ext cx="1062990" cy="106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229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026A5CDD-D285-4500-90F7-EA0EB9169B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9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76"/>
            <a:ext cx="12192000" cy="6864376"/>
          </a:xfrm>
          <a:prstGeom prst="rect">
            <a:avLst/>
          </a:prstGeom>
          <a:effectLst>
            <a:outerShdw dist="50800" dir="5400000" algn="ctr" rotWithShape="0">
              <a:srgbClr val="000000">
                <a:alpha val="96000"/>
              </a:srgbClr>
            </a:outerShdw>
          </a:effectLst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40BE56E0-9B19-409D-9B53-F41957440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Forrás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DC6C1E0-77D0-445B-898D-2953DE2C7E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https://pixabay.com/hu/images/download/3844328-stock-1863880_1920.jpg</a:t>
            </a:r>
            <a:endParaRPr lang="hu-HU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https://www.facebook.com/GitHub/</a:t>
            </a:r>
            <a:endParaRPr lang="hu-HU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https://www.facebook.com/messenger/?locale=hu_HU</a:t>
            </a:r>
            <a:endParaRPr lang="hu-HU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https://ipv4.google.com/intl/hu/drive/download/</a:t>
            </a:r>
            <a:endParaRPr lang="hu-HU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5074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1721</Words>
  <Application>Microsoft Office PowerPoint</Application>
  <PresentationFormat>Szélesvásznú</PresentationFormat>
  <Paragraphs>110</Paragraphs>
  <Slides>15</Slides>
  <Notes>12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Courier New</vt:lpstr>
      <vt:lpstr>Times New Roman</vt:lpstr>
      <vt:lpstr>Office-téma</vt:lpstr>
      <vt:lpstr>PénzKút-Tőzsdei platform</vt:lpstr>
      <vt:lpstr>Projektleírás</vt:lpstr>
      <vt:lpstr>Célfelhasználók</vt:lpstr>
      <vt:lpstr>Program</vt:lpstr>
      <vt:lpstr>Frontend</vt:lpstr>
      <vt:lpstr>Frontend-Tesztelés</vt:lpstr>
      <vt:lpstr>Backend</vt:lpstr>
      <vt:lpstr>Backend-Tesztelés</vt:lpstr>
      <vt:lpstr>Reszponzivitás</vt:lpstr>
      <vt:lpstr>Adatszerkezet és Adatbázis</vt:lpstr>
      <vt:lpstr>Csapatmunka</vt:lpstr>
      <vt:lpstr>Miért jobb a StockMaster?</vt:lpstr>
      <vt:lpstr>Jövőbeli fejlesztések</vt:lpstr>
      <vt:lpstr>Köszönjük a Figyelmet!</vt:lpstr>
      <vt:lpstr>Forrás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StockMaster-Tőzsdei platform</dc:title>
  <dc:creator>Zsígó Róbert</dc:creator>
  <cp:lastModifiedBy>Zsígó Róbert</cp:lastModifiedBy>
  <cp:revision>33</cp:revision>
  <dcterms:created xsi:type="dcterms:W3CDTF">2026-03-03T07:56:03Z</dcterms:created>
  <dcterms:modified xsi:type="dcterms:W3CDTF">2026-04-17T11:31:15Z</dcterms:modified>
</cp:coreProperties>
</file>